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0" r:id="rId7"/>
    <p:sldId id="264" r:id="rId5"/>
    <p:sldId id="265" r:id="rId6"/>
    <p:sldId id="266" r:id="rId8"/>
    <p:sldId id="269" r:id="rId9"/>
    <p:sldId id="274" r:id="rId23"/>
    <p:sldId id="271" r:id="rId20"/>
    <p:sldId id="272" r:id="rId21"/>
    <p:sldId id="273" r:id="rId22"/>
    <p:sldId id="275" r:id="rId24"/>
    <p:sldId id="279" r:id="rId28"/>
    <p:sldId id="278" r:id="rId27"/>
    <p:sldId id="276" r:id="rId25"/>
    <p:sldId id="277" r:id="rId26"/>
    <p:sldId id="261" r:id="rId11"/>
    <p:sldId id="262" r:id="rId12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5" roundtripDataSignature="AMtx7mjaXf9p8oIO7ORZviy6bP0Jxgqf2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6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58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customschemas.google.com/relationships/presentationmetadata" Target="meta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2.xml"/><Relationship Id="rId28" Type="http://schemas.openxmlformats.org/officeDocument/2006/relationships/slide" Target="slides/slide25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6" name="Google Shape;3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4" name="Google Shape;6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E086EC11-843A-BF16-63A1-82ACC6639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>
            <a:extLst>
              <a:ext uri="{FF2B5EF4-FFF2-40B4-BE49-F238E27FC236}">
                <a16:creationId xmlns:a16="http://schemas.microsoft.com/office/drawing/2014/main" id="{38E5A9AD-1920-C29D-FEE1-A483A71A06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4" name="Google Shape;64;p3:notes">
            <a:extLst>
              <a:ext uri="{FF2B5EF4-FFF2-40B4-BE49-F238E27FC236}">
                <a16:creationId xmlns:a16="http://schemas.microsoft.com/office/drawing/2014/main" id="{99F68EA0-D39C-C862-32AB-F1F545C31E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3:notes">
            <a:extLst>
              <a:ext uri="{FF2B5EF4-FFF2-40B4-BE49-F238E27FC236}">
                <a16:creationId xmlns:a16="http://schemas.microsoft.com/office/drawing/2014/main" id="{35953BD5-68F0-38AE-F431-2B4B309C0E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788390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5" name="Google Shape;17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24" name="Google Shape;22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39D2B8-2474-DD5B-D399-ABDE549D5F4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7572375" y="4927600"/>
            <a:ext cx="15589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FF">
                    <a:alpha val="50000"/>
                  </a:srgbClr>
                </a:solidFill>
                <a:latin typeface="Aptos" panose="020B0004020202020204" pitchFamily="34" charset="0"/>
              </a:rPr>
              <a:t xml:space="preserve">Dubai Health  - Internal Use 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E5C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1C2"/>
          </a:solidFill>
          <a:ln w="12700" cap="flat" cmpd="sng">
            <a:solidFill>
              <a:srgbClr val="00A1C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0"/>
            <a:ext cx="3474600" cy="5143500"/>
          </a:xfrm>
          <a:prstGeom prst="rect">
            <a:avLst/>
          </a:prstGeom>
          <a:solidFill>
            <a:srgbClr val="00567D"/>
          </a:solidFill>
          <a:ln w="12700" cap="flat" cmpd="sng">
            <a:solidFill>
              <a:srgbClr val="0056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274320" y="365760"/>
            <a:ext cx="1828800" cy="457200"/>
          </a:xfrm>
          <a:prstGeom prst="rect">
            <a:avLst/>
          </a:prstGeom>
          <a:solidFill>
            <a:srgbClr val="00A1C2"/>
          </a:solidFill>
          <a:ln w="12700" cap="flat" cmpd="sng">
            <a:solidFill>
              <a:srgbClr val="00A1C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274320" y="36576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Dubai Health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3474720" y="0"/>
            <a:ext cx="54864" cy="5143500"/>
          </a:xfrm>
          <a:prstGeom prst="rect">
            <a:avLst/>
          </a:prstGeom>
          <a:solidFill>
            <a:srgbClr val="00A1C2"/>
          </a:solidFill>
          <a:ln w="12700" cap="flat" cmpd="sng">
            <a:solidFill>
              <a:srgbClr val="00A1C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274320" y="118872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1C2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0A1C2"/>
                </a:solidFill>
                <a:latin typeface="Calibri"/>
                <a:ea typeface="Calibri"/>
                <a:cs typeface="Calibri"/>
                <a:sym typeface="Calibri"/>
              </a:rPr>
              <a:t>USE CASE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274320" y="1600200"/>
            <a:ext cx="29262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AI-Assisted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Performance/Review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Analysis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3840480" y="1280160"/>
            <a:ext cx="502920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Detecting Performance Risks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Before They Reach Production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3840480" y="2651760"/>
            <a:ext cx="4937760" cy="27432"/>
          </a:xfrm>
          <a:prstGeom prst="rect">
            <a:avLst/>
          </a:prstGeom>
          <a:solidFill>
            <a:srgbClr val="00A1C2"/>
          </a:solidFill>
          <a:ln w="12700" cap="flat" cmpd="sng">
            <a:solidFill>
              <a:srgbClr val="00A1C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3840480" y="2788920"/>
            <a:ext cx="5029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D4E0"/>
              </a:buClr>
              <a:buSzPts val="1300"/>
              <a:buFont typeface="Calibri"/>
              <a:buNone/>
            </a:pPr>
            <a:r>
              <a:rPr lang="en-US" sz="1300" b="0" i="0" u="none" strike="noStrike" cap="none" dirty="0">
                <a:solidFill>
                  <a:srgbClr val="B0D4E0"/>
                </a:solidFill>
                <a:latin typeface="Calibri"/>
                <a:ea typeface="Calibri"/>
                <a:cs typeface="Calibri"/>
                <a:sym typeface="Calibri"/>
              </a:rPr>
              <a:t>Using artificial intelligence to analyze source code and identify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D4E0"/>
              </a:buClr>
              <a:buSzPts val="1300"/>
              <a:buFont typeface="Calibri"/>
              <a:buNone/>
            </a:pPr>
            <a:r>
              <a:rPr lang="en-US" sz="1300" b="0" i="0" u="none" strike="noStrike" cap="none" dirty="0">
                <a:solidFill>
                  <a:srgbClr val="B0D4E0"/>
                </a:solidFill>
                <a:latin typeface="Calibri"/>
                <a:ea typeface="Calibri"/>
                <a:cs typeface="Calibri"/>
                <a:sym typeface="Calibri"/>
              </a:rPr>
              <a:t>performance inefficiencies before they impact production systems.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3888890" y="3931920"/>
            <a:ext cx="1097400" cy="320100"/>
          </a:xfrm>
          <a:prstGeom prst="rect">
            <a:avLst/>
          </a:prstGeom>
          <a:solidFill>
            <a:srgbClr val="007B9E"/>
          </a:solidFill>
          <a:ln w="12700" cap="flat" cmpd="sng">
            <a:solidFill>
              <a:srgbClr val="00A1C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3888890" y="3931920"/>
            <a:ext cx="1097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Performance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5123330" y="3931920"/>
            <a:ext cx="1097400" cy="320100"/>
          </a:xfrm>
          <a:prstGeom prst="rect">
            <a:avLst/>
          </a:prstGeom>
          <a:solidFill>
            <a:srgbClr val="007B9E"/>
          </a:solidFill>
          <a:ln w="12700" cap="flat" cmpd="sng">
            <a:solidFill>
              <a:srgbClr val="00A1C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5123330" y="3931920"/>
            <a:ext cx="1097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Review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6357770" y="3931920"/>
            <a:ext cx="1097400" cy="320100"/>
          </a:xfrm>
          <a:prstGeom prst="rect">
            <a:avLst/>
          </a:prstGeom>
          <a:solidFill>
            <a:srgbClr val="007B9E"/>
          </a:solidFill>
          <a:ln w="12700" cap="flat" cmpd="sng">
            <a:solidFill>
              <a:srgbClr val="00A1C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6357770" y="3931920"/>
            <a:ext cx="1097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API Quality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274327" y="3703325"/>
            <a:ext cx="1368000" cy="2730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274322" y="3931925"/>
            <a:ext cx="25905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Safaa Soliman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Dubai Health Authority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30;p1">
            <a:extLst>
              <a:ext uri="{FF2B5EF4-FFF2-40B4-BE49-F238E27FC236}">
                <a16:creationId xmlns:a16="http://schemas.microsoft.com/office/drawing/2014/main" id="{CD137280-78E8-1F6F-6CD4-89A4FA1F1B0A}"/>
              </a:ext>
            </a:extLst>
          </p:cNvPr>
          <p:cNvSpPr/>
          <p:nvPr/>
        </p:nvSpPr>
        <p:spPr>
          <a:xfrm>
            <a:off x="7592210" y="3931920"/>
            <a:ext cx="1097400" cy="320100"/>
          </a:xfrm>
          <a:prstGeom prst="rect">
            <a:avLst/>
          </a:prstGeom>
          <a:solidFill>
            <a:srgbClr val="007B9E"/>
          </a:solidFill>
          <a:ln w="12700" cap="flat" cmpd="sng">
            <a:solidFill>
              <a:srgbClr val="00A1C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31;p1">
            <a:extLst>
              <a:ext uri="{FF2B5EF4-FFF2-40B4-BE49-F238E27FC236}">
                <a16:creationId xmlns:a16="http://schemas.microsoft.com/office/drawing/2014/main" id="{D2445BAC-16B6-DE49-EB26-982560A3FB72}"/>
              </a:ext>
            </a:extLst>
          </p:cNvPr>
          <p:cNvSpPr/>
          <p:nvPr/>
        </p:nvSpPr>
        <p:spPr>
          <a:xfrm>
            <a:off x="7592210" y="3931920"/>
            <a:ext cx="1097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567D"/>
          </a:solidFill>
          <a:ln w="12700" cap="flat" cmpd="sng">
            <a:solidFill>
              <a:srgbClr val="0056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457200" y="91440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57200" y="59436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1C2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00A1C2"/>
                </a:solidFill>
                <a:latin typeface="Calibri"/>
                <a:ea typeface="Calibri"/>
                <a:cs typeface="Calibri"/>
                <a:sym typeface="Calibri"/>
              </a:rPr>
              <a:t xml:space="preserve">Why AI-Assisted </a:t>
            </a:r>
            <a:r>
              <a:rPr lang="en-US" sz="1200" dirty="0">
                <a:solidFill>
                  <a:srgbClr val="00A1C2"/>
                </a:solidFill>
                <a:latin typeface="Calibri"/>
                <a:ea typeface="Calibri"/>
                <a:cs typeface="Calibri"/>
                <a:sym typeface="Calibri"/>
              </a:rPr>
              <a:t>Code Performance</a:t>
            </a:r>
            <a:r>
              <a:rPr lang="en-US" sz="1200" b="0" i="0" u="none" strike="noStrike" cap="none" dirty="0">
                <a:solidFill>
                  <a:srgbClr val="00A1C2"/>
                </a:solidFill>
                <a:latin typeface="Calibri"/>
                <a:ea typeface="Calibri"/>
                <a:cs typeface="Calibri"/>
                <a:sym typeface="Calibri"/>
              </a:rPr>
              <a:t xml:space="preserve"> Analysis?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7498080" y="182880"/>
            <a:ext cx="1463040" cy="548640"/>
          </a:xfrm>
          <a:prstGeom prst="rect">
            <a:avLst/>
          </a:prstGeom>
          <a:solidFill>
            <a:srgbClr val="00A1C2"/>
          </a:solidFill>
          <a:ln w="12700" cap="flat" cmpd="sng">
            <a:solidFill>
              <a:srgbClr val="00A1C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7498080" y="18288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Dubai Health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365760" y="1188720"/>
            <a:ext cx="5303520" cy="3291840"/>
          </a:xfrm>
          <a:prstGeom prst="rect">
            <a:avLst/>
          </a:prstGeom>
          <a:solidFill>
            <a:srgbClr val="EBF7FC"/>
          </a:solidFill>
          <a:ln w="12700" cap="flat" cmpd="sng">
            <a:solidFill>
              <a:srgbClr val="00A1C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548640" y="1325880"/>
            <a:ext cx="4937760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250"/>
              <a:buFont typeface="Calibri"/>
              <a:buNone/>
            </a:pPr>
            <a:r>
              <a:rPr lang="en-US" sz="1250" b="0" i="0" u="none" strike="noStrike" cap="none" dirty="0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 xml:space="preserve">Our code are </a:t>
            </a:r>
            <a:r>
              <a:rPr lang="en-US" sz="1250" b="0" i="0" u="none" strike="noStrike" cap="non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 xml:space="preserve">a main </a:t>
            </a:r>
            <a:r>
              <a:rPr lang="en-US" sz="1250" b="0" i="0" u="none" strike="noStrike" cap="none" dirty="0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part of applications, but potential performance issues are not always identified early during development.</a:t>
            </a:r>
            <a:endParaRPr sz="1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endParaRPr sz="1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250"/>
              <a:buFont typeface="Calibri"/>
              <a:buNone/>
            </a:pPr>
            <a:r>
              <a:rPr lang="en-US" sz="1250" b="0" i="0" u="none" strike="noStrike" cap="none" dirty="0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Without advanced monitoring or telemetry, teams rely heavily on manual code review and developer experience to detect inefficiencies.</a:t>
            </a:r>
            <a:endParaRPr sz="1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endParaRPr sz="1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250"/>
              <a:buFont typeface="Calibri"/>
              <a:buNone/>
            </a:pPr>
            <a:r>
              <a:rPr lang="en-US" sz="1250" b="0" i="0" u="none" strike="noStrike" cap="none" dirty="0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This increases the risk of performance issues, scalability limitations, and delayed optimization after deployment.</a:t>
            </a:r>
            <a:endParaRPr sz="1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5943600" y="1188720"/>
            <a:ext cx="2926080" cy="713232"/>
          </a:xfrm>
          <a:prstGeom prst="rect">
            <a:avLst/>
          </a:prstGeom>
          <a:solidFill>
            <a:srgbClr val="EBF7FC"/>
          </a:solidFill>
          <a:ln w="12700" cap="flat" cmpd="sng">
            <a:solidFill>
              <a:srgbClr val="00A1C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5943600" y="1188720"/>
            <a:ext cx="54864" cy="713232"/>
          </a:xfrm>
          <a:prstGeom prst="rect">
            <a:avLst/>
          </a:prstGeom>
          <a:solidFill>
            <a:srgbClr val="00567D"/>
          </a:solidFill>
          <a:ln w="12700" cap="flat" cmpd="sng">
            <a:solidFill>
              <a:srgbClr val="0056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6080760" y="1234440"/>
            <a:ext cx="2697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67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0567D"/>
                </a:solidFill>
                <a:latin typeface="Calibri"/>
                <a:ea typeface="Calibri"/>
                <a:cs typeface="Calibri"/>
                <a:sym typeface="Calibri"/>
              </a:rPr>
              <a:t>⚠ Late Detection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6080760" y="1536192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 xml:space="preserve">Issues found </a:t>
            </a: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 xml:space="preserve">after </a:t>
            </a: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deployment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5943600" y="2011680"/>
            <a:ext cx="2926080" cy="71323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A1C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5943600" y="2011680"/>
            <a:ext cx="54864" cy="713232"/>
          </a:xfrm>
          <a:prstGeom prst="rect">
            <a:avLst/>
          </a:prstGeom>
          <a:solidFill>
            <a:srgbClr val="00567D"/>
          </a:solidFill>
          <a:ln w="12700" cap="flat" cmpd="sng">
            <a:solidFill>
              <a:srgbClr val="0056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6080760" y="2057400"/>
            <a:ext cx="2697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67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0567D"/>
                </a:solidFill>
                <a:latin typeface="Calibri"/>
                <a:ea typeface="Calibri"/>
                <a:cs typeface="Calibri"/>
                <a:sym typeface="Calibri"/>
              </a:rPr>
              <a:t>👁 Manual Review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6080760" y="2359152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Relies on developer experience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5943600" y="2834640"/>
            <a:ext cx="2926080" cy="713232"/>
          </a:xfrm>
          <a:prstGeom prst="rect">
            <a:avLst/>
          </a:prstGeom>
          <a:solidFill>
            <a:srgbClr val="EBF7FC"/>
          </a:solidFill>
          <a:ln w="12700" cap="flat" cmpd="sng">
            <a:solidFill>
              <a:srgbClr val="00A1C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5943600" y="2834640"/>
            <a:ext cx="54864" cy="713232"/>
          </a:xfrm>
          <a:prstGeom prst="rect">
            <a:avLst/>
          </a:prstGeom>
          <a:solidFill>
            <a:srgbClr val="00567D"/>
          </a:solidFill>
          <a:ln w="12700" cap="flat" cmpd="sng">
            <a:solidFill>
              <a:srgbClr val="0056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6080760" y="2880360"/>
            <a:ext cx="2697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67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0567D"/>
                </a:solidFill>
                <a:latin typeface="Calibri"/>
                <a:ea typeface="Calibri"/>
                <a:cs typeface="Calibri"/>
                <a:sym typeface="Calibri"/>
              </a:rPr>
              <a:t>📉 Scale Risk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6080760" y="3182112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Scalability limits undetected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5943600" y="3657600"/>
            <a:ext cx="2926080" cy="71323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A1C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5943600" y="3657600"/>
            <a:ext cx="54864" cy="713232"/>
          </a:xfrm>
          <a:prstGeom prst="rect">
            <a:avLst/>
          </a:prstGeom>
          <a:solidFill>
            <a:srgbClr val="00567D"/>
          </a:solidFill>
          <a:ln w="12700" cap="flat" cmpd="sng">
            <a:solidFill>
              <a:srgbClr val="0056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6080760" y="3703320"/>
            <a:ext cx="2697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67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0567D"/>
                </a:solidFill>
                <a:latin typeface="Calibri"/>
                <a:ea typeface="Calibri"/>
                <a:cs typeface="Calibri"/>
                <a:sym typeface="Calibri"/>
              </a:rPr>
              <a:t>⏱ Delayed Fix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6080760" y="4005072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Optimization happens too late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567D"/>
          </a:solidFill>
          <a:ln>
            <a:solidFill>
              <a:srgbClr val="00567D"/>
            </a:solidFill>
          </a:ln>
        </p:spPr>
        <p:txBody>
          <a:bodyPr wrap="square" anchor="ctr"/>
          <a:lstStyle/>
          <a:p>
            <a:endParaRPr/>
          </a:p>
        </p:txBody>
      </p:sp>
      <p:sp>
        <p:nvSpPr>
          <p:cNvPr id="3" name="Title"/>
          <p:cNvSpPr/>
          <p:nvPr/>
        </p:nvSpPr>
        <p:spPr>
          <a:xfrm>
            <a:off x="457200" y="91440"/>
            <a:ext cx="70104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2200" b="1">
                <a:solidFill>
                  <a:srgbClr val="FFFFFF"/>
                </a:solidFill>
                <a:latin typeface="Calibri"/>
              </a:rPr>
              <a:t>Expected Benefits &amp; Key Audience</a:t>
            </a:r>
          </a:p>
        </p:txBody>
      </p:sp>
      <p:sp>
        <p:nvSpPr>
          <p:cNvPr id="4" name="DH"/>
          <p:cNvSpPr/>
          <p:nvPr/>
        </p:nvSpPr>
        <p:spPr>
          <a:xfrm>
            <a:off x="7620000" y="914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r"/>
            <a:r>
              <a:rPr lang="en-US" sz="1400" b="1">
                <a:solidFill>
                  <a:srgbClr val="FFFFFF"/>
                </a:solidFill>
                <a:latin typeface="Calibri"/>
              </a:rPr>
              <a:t>Dubai Health</a:t>
            </a:r>
          </a:p>
        </p:txBody>
      </p:sp>
      <p:sp>
        <p:nvSpPr>
          <p:cNvPr id="5" name="Benefits"/>
          <p:cNvSpPr/>
          <p:nvPr/>
        </p:nvSpPr>
        <p:spPr>
          <a:xfrm>
            <a:off x="457200" y="609600"/>
            <a:ext cx="4267200" cy="3962400"/>
          </a:xfrm>
          <a:prstGeom prst="rect">
            <a:avLst/>
          </a:prstGeom>
          <a:solidFill>
            <a:srgbClr val="EBF5FB"/>
          </a:solidFill>
          <a:ln w="12700">
            <a:solidFill>
              <a:srgbClr val="00567D"/>
            </a:solidFill>
          </a:ln>
        </p:spPr>
        <p:txBody>
          <a:bodyPr wrap="square" lIns="91440" tIns="91440" rIns="91440" bIns="91440" anchor="t"/>
          <a:lstStyle/>
          <a:p>
            <a:r>
              <a:rPr lang="en-US" sz="1400" b="1">
                <a:solidFill>
                  <a:srgbClr val="00567D"/>
                </a:solidFill>
                <a:latin typeface="Calibri"/>
              </a:rPr>
              <a:t>Expected Benefits</a:t>
            </a:r>
          </a:p>
          <a:p>
            <a:r>
              <a:rPr lang="en-US" sz="105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200" b="0">
                <a:solidFill>
                  <a:srgbClr val="333333"/>
                </a:solidFill>
                <a:latin typeface="Calibri"/>
              </a:rPr>
              <a:t>• Detect performance risks earlier in the development lifecycle</a:t>
            </a:r>
          </a:p>
          <a:p>
            <a:r>
              <a:rPr lang="en-US" sz="1200" b="0">
                <a:solidFill>
                  <a:srgbClr val="333333"/>
                </a:solidFill>
                <a:latin typeface="Calibri"/>
              </a:rPr>
              <a:t>• Reduce manual effort in code review</a:t>
            </a:r>
          </a:p>
          <a:p>
            <a:r>
              <a:rPr lang="en-US" sz="1200" b="0">
                <a:solidFill>
                  <a:srgbClr val="333333"/>
                </a:solidFill>
                <a:latin typeface="Calibri"/>
              </a:rPr>
              <a:t>• Improve code design and implementation quality</a:t>
            </a:r>
          </a:p>
          <a:p>
            <a:r>
              <a:rPr lang="en-US" sz="1200" b="0">
                <a:solidFill>
                  <a:srgbClr val="333333"/>
                </a:solidFill>
                <a:latin typeface="Calibri"/>
              </a:rPr>
              <a:t>• Identify security and performance issues before deployment</a:t>
            </a:r>
          </a:p>
          <a:p>
            <a:r>
              <a:rPr lang="en-US" sz="1200" b="0">
                <a:solidFill>
                  <a:srgbClr val="333333"/>
                </a:solidFill>
                <a:latin typeface="Calibri"/>
              </a:rPr>
              <a:t>• Support developers with AI-powered fix suggestions</a:t>
            </a:r>
          </a:p>
          <a:p>
            <a:r>
              <a:rPr lang="en-US" sz="1200" b="0">
                <a:solidFill>
                  <a:srgbClr val="333333"/>
                </a:solidFill>
                <a:latin typeface="Calibri"/>
              </a:rPr>
              <a:t>• Improve scalability and maintainability of code</a:t>
            </a:r>
          </a:p>
          <a:p>
            <a:r>
              <a:rPr lang="en-US" sz="1200" b="0">
                <a:solidFill>
                  <a:srgbClr val="333333"/>
                </a:solidFill>
                <a:latin typeface="Calibri"/>
              </a:rPr>
              <a:t>• Reduce future troubleshooting and incident response effort</a:t>
            </a:r>
          </a:p>
          <a:p>
            <a:r>
              <a:rPr lang="en-US" sz="1200" b="0">
                <a:solidFill>
                  <a:srgbClr val="333333"/>
                </a:solidFill>
                <a:latin typeface="Calibri"/>
              </a:rPr>
              <a:t>• Enforce Dubai Health coding standards automatically on every PR</a:t>
            </a:r>
          </a:p>
          <a:p>
            <a:r>
              <a:rPr lang="en-US" sz="1200" b="0">
                <a:solidFill>
                  <a:srgbClr val="333333"/>
                </a:solidFill>
                <a:latin typeface="Calibri"/>
              </a:rPr>
              <a:t>• Generate full audit trail for compliance evidence</a:t>
            </a:r>
          </a:p>
        </p:txBody>
      </p:sp>
      <p:sp>
        <p:nvSpPr>
          <p:cNvPr id="6" name="Audience"/>
          <p:cNvSpPr/>
          <p:nvPr/>
        </p:nvSpPr>
        <p:spPr>
          <a:xfrm>
            <a:off x="4876800" y="609600"/>
            <a:ext cx="3810000" cy="3962400"/>
          </a:xfrm>
          <a:prstGeom prst="rect">
            <a:avLst/>
          </a:prstGeom>
          <a:solidFill>
            <a:srgbClr val="F8F9FA"/>
          </a:solidFill>
          <a:ln w="12700">
            <a:solidFill>
              <a:srgbClr val="00567D"/>
            </a:solidFill>
          </a:ln>
        </p:spPr>
        <p:txBody>
          <a:bodyPr wrap="square" lIns="91440" tIns="91440" rIns="91440" bIns="91440" anchor="t"/>
          <a:lstStyle/>
          <a:p>
            <a:r>
              <a:rPr lang="en-US" sz="1400" b="1">
                <a:solidFill>
                  <a:srgbClr val="00567D"/>
                </a:solidFill>
                <a:latin typeface="Calibri"/>
              </a:rPr>
              <a:t>Key Audience</a:t>
            </a:r>
          </a:p>
          <a:p>
            <a:r>
              <a:rPr lang="en-US" sz="105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300" b="1">
                <a:solidFill>
                  <a:srgbClr val="00567D"/>
                </a:solidFill>
                <a:latin typeface="Calibri"/>
              </a:rPr>
              <a:t>💻 API Developers</a:t>
            </a:r>
          </a:p>
          <a:p>
            <a:r>
              <a:rPr lang="en-US" sz="1100" b="0">
                <a:solidFill>
                  <a:srgbClr val="555555"/>
                </a:solidFill>
                <a:latin typeface="Calibri"/>
              </a:rPr>
              <a:t>Primary users of AI code review and fix suggestions</a:t>
            </a:r>
          </a:p>
          <a:p>
            <a:r>
              <a:rPr lang="en-US" sz="105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300" b="1">
                <a:solidFill>
                  <a:srgbClr val="00567D"/>
                </a:solidFill>
                <a:latin typeface="Calibri"/>
              </a:rPr>
              <a:t>🛡 Software Engineers</a:t>
            </a:r>
          </a:p>
          <a:p>
            <a:r>
              <a:rPr lang="en-US" sz="1100" b="0">
                <a:solidFill>
                  <a:srgbClr val="555555"/>
                </a:solidFill>
                <a:latin typeface="Calibri"/>
              </a:rPr>
              <a:t>Benefit from automated quality enforcement</a:t>
            </a:r>
          </a:p>
          <a:p>
            <a:r>
              <a:rPr lang="en-US" sz="105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300" b="1">
                <a:solidFill>
                  <a:srgbClr val="00567D"/>
                </a:solidFill>
                <a:latin typeface="Calibri"/>
              </a:rPr>
              <a:t>🏗 Technical Leads</a:t>
            </a:r>
          </a:p>
          <a:p>
            <a:r>
              <a:rPr lang="en-US" sz="1100" b="0">
                <a:solidFill>
                  <a:srgbClr val="555555"/>
                </a:solidFill>
                <a:latin typeface="Calibri"/>
              </a:rPr>
              <a:t>Visibility into team code health and DORA metrics</a:t>
            </a:r>
          </a:p>
          <a:p>
            <a:r>
              <a:rPr lang="en-US" sz="105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300" b="1">
                <a:solidFill>
                  <a:srgbClr val="00567D"/>
                </a:solidFill>
                <a:latin typeface="Calibri"/>
              </a:rPr>
              <a:t>📊 Solution Architects</a:t>
            </a:r>
          </a:p>
          <a:p>
            <a:r>
              <a:rPr lang="en-US" sz="1100" b="0">
                <a:solidFill>
                  <a:srgbClr val="555555"/>
                </a:solidFill>
                <a:latin typeface="Calibri"/>
              </a:rPr>
              <a:t>Architecture-aware rules and compliance evidence</a:t>
            </a:r>
          </a:p>
          <a:p>
            <a:r>
              <a:rPr lang="en-US" sz="105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300" b="1">
                <a:solidFill>
                  <a:srgbClr val="00567D"/>
                </a:solidFill>
                <a:latin typeface="Calibri"/>
              </a:rPr>
              <a:t>💼 Management</a:t>
            </a:r>
          </a:p>
          <a:p>
            <a:r>
              <a:rPr lang="en-US" sz="1100" b="0">
                <a:solidFill>
                  <a:srgbClr val="555555"/>
                </a:solidFill>
                <a:latin typeface="Calibri"/>
              </a:rPr>
              <a:t>ROI visibility, risk reduction, compliance assurance</a:t>
            </a:r>
          </a:p>
        </p:txBody>
      </p:sp>
      <p:sp>
        <p:nvSpPr>
          <p:cNvPr id="7" name="Ftr"/>
          <p:cNvSpPr/>
          <p:nvPr/>
        </p:nvSpPr>
        <p:spPr>
          <a:xfrm>
            <a:off x="0" y="4877040"/>
            <a:ext cx="9144000" cy="266460"/>
          </a:xfrm>
          <a:prstGeom prst="rect">
            <a:avLst/>
          </a:prstGeom>
          <a:solidFill>
            <a:srgbClr val="00567D"/>
          </a:solidFill>
          <a:ln>
            <a:solidFill>
              <a:srgbClr val="00567D"/>
            </a:solidFill>
          </a:ln>
        </p:spPr>
        <p:txBody>
          <a:bodyPr wrap="square" anchor="ctr"/>
          <a:lstStyle/>
          <a:p>
            <a:pPr algn="r"/>
            <a:r>
              <a:rPr lang="en-US" sz="900" b="0">
                <a:solidFill>
                  <a:srgbClr val="FFFFFF"/>
                </a:solidFill>
                <a:latin typeface="Calibri"/>
              </a:rPr>
              <a:t>Dubai Health — Internal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567D"/>
          </a:solidFill>
          <a:ln>
            <a:solidFill>
              <a:srgbClr val="00567D"/>
            </a:solidFill>
          </a:ln>
        </p:spPr>
        <p:txBody>
          <a:bodyPr wrap="square" anchor="ctr"/>
          <a:lstStyle/>
          <a:p>
            <a:endParaRPr/>
          </a:p>
        </p:txBody>
      </p:sp>
      <p:sp>
        <p:nvSpPr>
          <p:cNvPr id="3" name="Title"/>
          <p:cNvSpPr/>
          <p:nvPr/>
        </p:nvSpPr>
        <p:spPr>
          <a:xfrm>
            <a:off x="457200" y="91440"/>
            <a:ext cx="70104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2200" b="1">
                <a:solidFill>
                  <a:srgbClr val="FFFFFF"/>
                </a:solidFill>
                <a:latin typeface="Calibri"/>
              </a:rPr>
              <a:t>AI Tools Evaluated</a:t>
            </a:r>
          </a:p>
        </p:txBody>
      </p:sp>
      <p:sp>
        <p:nvSpPr>
          <p:cNvPr id="4" name="DH"/>
          <p:cNvSpPr/>
          <p:nvPr/>
        </p:nvSpPr>
        <p:spPr>
          <a:xfrm>
            <a:off x="7620000" y="914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r"/>
            <a:r>
              <a:rPr lang="en-US" sz="1400" b="1">
                <a:solidFill>
                  <a:srgbClr val="FFFFFF"/>
                </a:solidFill>
                <a:latin typeface="Calibri"/>
              </a:rPr>
              <a:t>Dubai Health</a:t>
            </a:r>
          </a:p>
        </p:txBody>
      </p:sp>
      <p:sp>
        <p:nvSpPr>
          <p:cNvPr id="5" name="Sub"/>
          <p:cNvSpPr/>
          <p:nvPr/>
        </p:nvSpPr>
        <p:spPr>
          <a:xfrm>
            <a:off x="457200" y="609600"/>
            <a:ext cx="8229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1200" b="0" i="1">
                <a:solidFill>
                  <a:srgbClr val="555555"/>
                </a:solidFill>
                <a:latin typeface="Calibri"/>
              </a:rPr>
              <a:t>Two solutions evaluated — presented separately based on Dubai Health’s existing infrastructure and procurement context</a:t>
            </a:r>
          </a:p>
        </p:txBody>
      </p:sp>
      <p:sp>
        <p:nvSpPr>
          <p:cNvPr id="6" name="CodeAnt"/>
          <p:cNvSpPr/>
          <p:nvPr/>
        </p:nvSpPr>
        <p:spPr>
          <a:xfrm>
            <a:off x="457200" y="990600"/>
            <a:ext cx="3962400" cy="3657600"/>
          </a:xfrm>
          <a:prstGeom prst="rect">
            <a:avLst/>
          </a:prstGeom>
          <a:solidFill>
            <a:srgbClr val="EBF5FB"/>
          </a:solidFill>
          <a:ln w="12700">
            <a:solidFill>
              <a:srgbClr val="00567D"/>
            </a:solidFill>
          </a:ln>
        </p:spPr>
        <p:txBody>
          <a:bodyPr wrap="square" lIns="91440" tIns="91440" rIns="91440" bIns="91440" anchor="t"/>
          <a:lstStyle/>
          <a:p>
            <a:r>
              <a:rPr lang="en-US" sz="1600" b="1">
                <a:solidFill>
                  <a:srgbClr val="00567D"/>
                </a:solidFill>
                <a:latin typeface="Calibri"/>
              </a:rPr>
              <a:t>🤖 CodeAnt AI</a:t>
            </a:r>
          </a:p>
          <a:p>
            <a:r>
              <a:rPr lang="en-US" sz="1050" b="0">
                <a:solidFill>
                  <a:srgbClr val="333333"/>
                </a:solidFill>
                <a:latin typeface="Calibri"/>
              </a:rPr>
              <a:t>AI-native code health platform</a:t>
            </a:r>
          </a:p>
          <a:p>
            <a:r>
              <a:rPr lang="en-US" sz="105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150" b="1">
                <a:solidFill>
                  <a:srgbClr val="00567D"/>
                </a:solidFill>
                <a:latin typeface="Calibri"/>
              </a:rPr>
              <a:t>Key strengths: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• AI-native PR review with inline comments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• Custom AI rules in plain English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• DORA metrics and engineering productivity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• Jira auto-ticket creation from findings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• SOC2 Type II + HIPAA compliant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• Quality Gates block unsafe PRs</a:t>
            </a:r>
          </a:p>
          <a:p>
            <a:r>
              <a:rPr lang="en-US" sz="105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150" b="1">
                <a:solidFill>
                  <a:srgbClr val="E67E22"/>
                </a:solidFill>
                <a:latin typeface="Calibri"/>
              </a:rPr>
              <a:t>Context:</a:t>
            </a:r>
          </a:p>
          <a:p>
            <a:r>
              <a:rPr lang="en-US" sz="1100" b="0">
                <a:solidFill>
                  <a:srgbClr val="555555"/>
                </a:solidFill>
                <a:latin typeface="Calibri"/>
              </a:rPr>
              <a:t>New vendor — requires procurement approval. Code reviewed under enterprise contract terms. Richer AI-native features than SonarQube.</a:t>
            </a:r>
          </a:p>
        </p:txBody>
      </p:sp>
      <p:sp>
        <p:nvSpPr>
          <p:cNvPr id="7" name="Sonar"/>
          <p:cNvSpPr/>
          <p:nvPr/>
        </p:nvSpPr>
        <p:spPr>
          <a:xfrm>
            <a:off x="4572000" y="990600"/>
            <a:ext cx="4114800" cy="3657600"/>
          </a:xfrm>
          <a:prstGeom prst="rect">
            <a:avLst/>
          </a:prstGeom>
          <a:solidFill>
            <a:srgbClr val="EAFAF1"/>
          </a:solidFill>
          <a:ln w="12700">
            <a:solidFill>
              <a:srgbClr val="27AE60"/>
            </a:solidFill>
          </a:ln>
        </p:spPr>
        <p:txBody>
          <a:bodyPr wrap="square" lIns="91440" tIns="91440" rIns="91440" bIns="91440" anchor="t"/>
          <a:lstStyle/>
          <a:p>
            <a:r>
              <a:rPr lang="en-US" sz="1600" b="1">
                <a:solidFill>
                  <a:srgbClr val="27AE60"/>
                </a:solidFill>
                <a:latin typeface="Calibri"/>
              </a:rPr>
              <a:t>📊 SonarQube Enterprise + Azure OpenAI</a:t>
            </a:r>
          </a:p>
          <a:p>
            <a:r>
              <a:rPr lang="en-US" sz="1050" b="0">
                <a:solidFill>
                  <a:srgbClr val="333333"/>
                </a:solidFill>
                <a:latin typeface="Calibri"/>
              </a:rPr>
              <a:t>Existing licensed tool — unlocking AI CodeFix</a:t>
            </a:r>
          </a:p>
          <a:p>
            <a:r>
              <a:rPr lang="en-US" sz="105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150" b="1">
                <a:solidFill>
                  <a:srgbClr val="27AE60"/>
                </a:solidFill>
                <a:latin typeface="Calibri"/>
              </a:rPr>
              <a:t>Key strengths: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• Already licensed — no new procurement needed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• AI CodeFix included in Enterprise license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• Code stays in Dubai Health Azure network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• Fix suggestions in VS Code and IntelliJ IDE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• Nearly 20 years of proven enterprise analysis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• Uses DH’s own Azure OpenAI deployment</a:t>
            </a:r>
          </a:p>
          <a:p>
            <a:r>
              <a:rPr lang="en-US" sz="105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150" b="1">
                <a:solidFill>
                  <a:srgbClr val="27AE60"/>
                </a:solidFill>
                <a:latin typeface="Calibri"/>
              </a:rPr>
              <a:t>Context:</a:t>
            </a:r>
          </a:p>
          <a:p>
            <a:r>
              <a:rPr lang="en-US" sz="1100" b="0">
                <a:solidFill>
                  <a:srgbClr val="555555"/>
                </a:solidFill>
                <a:latin typeface="Calibri"/>
              </a:rPr>
              <a:t>Existing vendor — configuration change only. Zero new vendor approval. Deployable in days. Recommended first step.</a:t>
            </a:r>
          </a:p>
        </p:txBody>
      </p:sp>
      <p:sp>
        <p:nvSpPr>
          <p:cNvPr id="8" name="Ftr"/>
          <p:cNvSpPr/>
          <p:nvPr/>
        </p:nvSpPr>
        <p:spPr>
          <a:xfrm>
            <a:off x="0" y="4877040"/>
            <a:ext cx="9144000" cy="266460"/>
          </a:xfrm>
          <a:prstGeom prst="rect">
            <a:avLst/>
          </a:prstGeom>
          <a:solidFill>
            <a:srgbClr val="00567D"/>
          </a:solidFill>
          <a:ln>
            <a:solidFill>
              <a:srgbClr val="00567D"/>
            </a:solidFill>
          </a:ln>
        </p:spPr>
        <p:txBody>
          <a:bodyPr wrap="square" anchor="ctr"/>
          <a:lstStyle/>
          <a:p>
            <a:pPr algn="r"/>
            <a:r>
              <a:rPr lang="en-US" sz="900" b="0">
                <a:solidFill>
                  <a:srgbClr val="FFFFFF"/>
                </a:solidFill>
                <a:latin typeface="Calibri"/>
              </a:rPr>
              <a:t>Dubai Health — Internal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bar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567D"/>
          </a:solidFill>
          <a:ln>
            <a:solidFill>
              <a:srgbClr val="00567D"/>
            </a:solidFill>
          </a:ln>
        </p:spPr>
        <p:txBody>
          <a:bodyPr wrap="square" anchor="ctr"/>
          <a:lstStyle/>
          <a:p>
            <a:endParaRPr/>
          </a:p>
        </p:txBody>
      </p:sp>
      <p:sp>
        <p:nvSpPr>
          <p:cNvPr id="3" name="title"/>
          <p:cNvSpPr/>
          <p:nvPr/>
        </p:nvSpPr>
        <p:spPr>
          <a:xfrm>
            <a:off x="457200" y="100000"/>
            <a:ext cx="7315200" cy="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/>
              </a:rPr>
              <a:t>CodeAnt — Verified Facts for DHA Decision</a:t>
            </a:r>
          </a:p>
        </p:txBody>
      </p:sp>
      <p:sp>
        <p:nvSpPr>
          <p:cNvPr id="4" name="dha"/>
          <p:cNvSpPr/>
          <p:nvPr/>
        </p:nvSpPr>
        <p:spPr>
          <a:xfrm>
            <a:off x="7498080" y="182880"/>
            <a:ext cx="1463040" cy="548640"/>
          </a:xfrm>
          <a:prstGeom prst="rect">
            <a:avLst/>
          </a:prstGeom>
          <a:solidFill>
            <a:srgbClr val="00A1C2"/>
          </a:solidFill>
          <a:ln>
            <a:solidFill>
              <a:srgbClr val="00A1C2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>
                <a:solidFill>
                  <a:srgbClr val="FFFFFF"/>
                </a:solidFill>
                <a:latin typeface="Calibri"/>
              </a:rPr>
              <a:t>Dubai Health</a:t>
            </a:r>
          </a:p>
        </p:txBody>
      </p:sp>
      <p:sp>
        <p:nvSpPr>
          <p:cNvPr id="10" name="confirmed_hdr_bg"/>
          <p:cNvSpPr/>
          <p:nvPr/>
        </p:nvSpPr>
        <p:spPr>
          <a:xfrm>
            <a:off x="365760" y="1097280"/>
            <a:ext cx="4023360" cy="365760"/>
          </a:xfrm>
          <a:prstGeom prst="rect">
            <a:avLst/>
          </a:prstGeom>
          <a:solidFill>
            <a:srgbClr val="007B9E"/>
          </a:solidFill>
          <a:ln>
            <a:solidFill>
              <a:srgbClr val="007B9E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>Confirmed — Official Docs</a:t>
            </a:r>
          </a:p>
        </p:txBody>
      </p:sp>
      <p:sp>
        <p:nvSpPr>
          <p:cNvPr id="11" name="confirmed_body"/>
          <p:cNvSpPr/>
          <p:nvPr/>
        </p:nvSpPr>
        <p:spPr>
          <a:xfrm>
            <a:off x="365760" y="1463040"/>
            <a:ext cx="4023360" cy="3200000"/>
          </a:xfrm>
          <a:prstGeom prst="rect">
            <a:avLst/>
          </a:prstGeom>
          <a:solidFill>
            <a:srgbClr val="EBF7FC"/>
          </a:solidFill>
          <a:ln w="9525">
            <a:solidFill>
              <a:srgbClr val="D0E8F0"/>
            </a:solidFill>
          </a:ln>
        </p:spPr>
        <p:txBody>
          <a:bodyPr wrap="square" lIns="114300" tIns="114300" rIns="114300" bIns="114300" anchor="t"/>
          <a:lstStyle/>
          <a:p>
            <a:pPr marL="228600" indent="-228600">
              <a:buChar char="✓"/>
            </a:pPr>
            <a:r>
              <a:rPr lang="en-US" sz="1000" b="1" dirty="0">
                <a:solidFill>
                  <a:srgbClr val="1A2E3B"/>
                </a:solidFill>
                <a:latin typeface="Calibri"/>
              </a:rPr>
              <a:t>SOC 2 Type II + HIPAA + VAPT certified</a:t>
            </a:r>
            <a:r>
              <a:rPr lang="en-US" sz="900" dirty="0">
                <a:solidFill>
                  <a:srgbClr val="444444"/>
                </a:solidFill>
                <a:latin typeface="Calibri"/>
              </a:rPr>
              <a:t xml:space="preserve"> — on official pricing page</a:t>
            </a:r>
          </a:p>
          <a:p>
            <a:pPr>
              <a:spcBef>
                <a:spcPts val="200"/>
              </a:spcBef>
            </a:pPr>
            <a:endParaRPr/>
          </a:p>
          <a:p>
            <a:pPr marL="228600" indent="-228600">
              <a:buChar char="✓"/>
            </a:pPr>
            <a:r>
              <a:rPr lang="en-US" sz="1000" b="1" dirty="0">
                <a:solidFill>
                  <a:srgbClr val="1A2E3B"/>
                </a:solidFill>
                <a:latin typeface="Calibri"/>
              </a:rPr>
              <a:t>Zero code storage — Privacy by design</a:t>
            </a:r>
            <a:r>
              <a:rPr lang="en-US" sz="900" dirty="0">
                <a:solidFill>
                  <a:srgbClr val="444444"/>
                </a:solidFill>
                <a:latin typeface="Calibri"/>
              </a:rPr>
              <a:t xml:space="preserve"> — stated on cybersecurity page</a:t>
            </a:r>
          </a:p>
          <a:p>
            <a:pPr>
              <a:spcBef>
                <a:spcPts val="200"/>
              </a:spcBef>
            </a:pPr>
            <a:endParaRPr/>
          </a:p>
          <a:p>
            <a:pPr marL="228600" indent="-228600">
              <a:buChar char="✓"/>
            </a:pPr>
            <a:r>
              <a:rPr lang="en-US" sz="1000" b="1" dirty="0">
                <a:solidFill>
                  <a:srgbClr val="1A2E3B"/>
                </a:solidFill>
                <a:latin typeface="Calibri"/>
              </a:rPr>
              <a:t>Azure DevOps self-hosted supported</a:t>
            </a:r>
            <a:r>
              <a:rPr lang="en-US" sz="900" dirty="0">
                <a:solidFill>
                  <a:srgbClr val="444444"/>
                </a:solidFill>
                <a:latin typeface="Calibri"/>
              </a:rPr>
              <a:t xml:space="preserve"> — full setup in official docs</a:t>
            </a:r>
          </a:p>
          <a:p>
            <a:pPr>
              <a:spcBef>
                <a:spcPts val="200"/>
              </a:spcBef>
            </a:pPr>
            <a:endParaRPr/>
          </a:p>
          <a:p>
            <a:pPr marL="228600" indent="-228600">
              <a:buChar char="✓"/>
            </a:pPr>
            <a:r>
              <a:rPr lang="en-US" sz="1000" b="1" dirty="0">
                <a:solidFill>
                  <a:srgbClr val="1A2E3B"/>
                </a:solidFill>
                <a:latin typeface="Calibri"/>
              </a:rPr>
              <a:t>Real-time IDE + PR review</a:t>
            </a:r>
            <a:r>
              <a:rPr lang="en-US" sz="900" dirty="0">
                <a:solidFill>
                  <a:srgbClr val="444444"/>
                </a:solidFill>
                <a:latin typeface="Calibri"/>
              </a:rPr>
              <a:t xml:space="preserve"> — documented in CLI and IDE sections</a:t>
            </a:r>
          </a:p>
          <a:p>
            <a:pPr>
              <a:spcBef>
                <a:spcPts val="200"/>
              </a:spcBef>
            </a:pPr>
            <a:endParaRPr/>
          </a:p>
          <a:p>
            <a:pPr marL="228600" indent="-228600">
              <a:buChar char="✓"/>
            </a:pPr>
            <a:r>
              <a:rPr lang="en-US" sz="1000" b="1" dirty="0">
                <a:solidFill>
                  <a:srgbClr val="1A2E3B"/>
                </a:solidFill>
                <a:latin typeface="Calibri"/>
              </a:rPr>
              <a:t>Quality Gates block merge on violations</a:t>
            </a:r>
            <a:r>
              <a:rPr lang="en-US" sz="900" dirty="0">
                <a:solidFill>
                  <a:srgbClr val="444444"/>
                </a:solidFill>
                <a:latin typeface="Calibri"/>
              </a:rPr>
              <a:t xml:space="preserve"> — Premium plan feature</a:t>
            </a:r>
          </a:p>
          <a:p>
            <a:pPr>
              <a:spcBef>
                <a:spcPts val="200"/>
              </a:spcBef>
            </a:pPr>
            <a:endParaRPr/>
          </a:p>
          <a:p>
            <a:pPr marL="228600" indent="-228600">
              <a:buChar char="✓"/>
            </a:pPr>
            <a:r>
              <a:rPr lang="en-US" sz="1000" b="1" dirty="0">
                <a:solidFill>
                  <a:srgbClr val="1A2E3B"/>
                </a:solidFill>
                <a:latin typeface="Calibri"/>
              </a:rPr>
              <a:t>Custom org-wide security rules</a:t>
            </a:r>
            <a:r>
              <a:rPr lang="en-US" sz="900" dirty="0">
                <a:solidFill>
                  <a:srgbClr val="444444"/>
                </a:solidFill>
                <a:latin typeface="Calibri"/>
              </a:rPr>
              <a:t xml:space="preserve"> — Code Governance + .codeant/configuration.json</a:t>
            </a:r>
          </a:p>
        </p:txBody>
      </p:sp>
      <p:sp>
        <p:nvSpPr>
          <p:cNvPr id="20" name="risk_hdr_bg"/>
          <p:cNvSpPr/>
          <p:nvPr/>
        </p:nvSpPr>
        <p:spPr>
          <a:xfrm>
            <a:off x="4680720" y="1097280"/>
            <a:ext cx="4097280" cy="365760"/>
          </a:xfrm>
          <a:prstGeom prst="rect">
            <a:avLst/>
          </a:prstGeom>
          <a:solidFill>
            <a:srgbClr val="922B21"/>
          </a:solidFill>
          <a:ln>
            <a:solidFill>
              <a:srgbClr val="922B21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>Requires Enterprise Contract</a:t>
            </a:r>
          </a:p>
        </p:txBody>
      </p:sp>
      <p:sp>
        <p:nvSpPr>
          <p:cNvPr id="21" name="risk_body"/>
          <p:cNvSpPr/>
          <p:nvPr/>
        </p:nvSpPr>
        <p:spPr>
          <a:xfrm>
            <a:off x="4680720" y="1463040"/>
            <a:ext cx="4097280" cy="3200000"/>
          </a:xfrm>
          <a:prstGeom prst="rect">
            <a:avLst/>
          </a:prstGeom>
          <a:solidFill>
            <a:srgbClr val="FDEDEC"/>
          </a:solidFill>
          <a:ln w="9525">
            <a:solidFill>
              <a:srgbClr val="F1948A"/>
            </a:solidFill>
          </a:ln>
        </p:spPr>
        <p:txBody>
          <a:bodyPr wrap="square" lIns="114300" tIns="114300" rIns="114300" bIns="114300" anchor="t"/>
          <a:lstStyle/>
          <a:p>
            <a:pPr marL="228600" indent="-228600">
              <a:buChar char="!"/>
            </a:pPr>
            <a:r>
              <a:rPr lang="en-US" sz="1000" b="1" dirty="0">
                <a:solidFill>
                  <a:srgbClr val="7B241C"/>
                </a:solidFill>
                <a:latin typeface="Calibri"/>
              </a:rPr>
              <a:t>Air-gapped / offline deployment</a:t>
            </a:r>
            <a:r>
              <a:rPr lang="en-US" sz="900" dirty="0">
                <a:solidFill>
                  <a:srgbClr val="7B241C"/>
                </a:solidFill>
                <a:latin typeface="Calibri"/>
              </a:rPr>
              <a:t xml:space="preserve"> — Confirmed: official enterprise page + Commvault air-gapped deployment case. prise contract required — contact sales.</a:t>
            </a:r>
          </a:p>
          <a:p>
            <a:pPr>
              <a:spcBef>
                <a:spcPts val="300"/>
              </a:spcBef>
            </a:pPr>
            <a:endParaRPr/>
          </a:p>
          <a:p>
            <a:pPr marL="228600" indent="-228600">
              <a:buChar char="!"/>
            </a:pPr>
            <a:r>
              <a:rPr lang="en-US" sz="1000" b="1" dirty="0">
                <a:solidFill>
                  <a:srgbClr val="7B241C"/>
                </a:solidFill>
                <a:latin typeface="Calibri"/>
              </a:rPr>
              <a:t>Standard plan: code goes to CodeAnt cloud</a:t>
            </a:r>
            <a:r>
              <a:rPr lang="en-US" sz="900" dirty="0">
                <a:solidFill>
                  <a:srgbClr val="7B241C"/>
                </a:solidFill>
                <a:latin typeface="Calibri"/>
              </a:rPr>
              <a:t xml:space="preserve"> — “Without internet” claim on Slide 4 applies ONLY after Enterprise air-gapped contract is signed. Not default behavior.</a:t>
            </a:r>
          </a:p>
          <a:p>
            <a:pPr>
              <a:spcBef>
                <a:spcPts val="300"/>
              </a:spcBef>
            </a:pPr>
            <a:endParaRPr/>
          </a:p>
          <a:p>
            <a:pPr marL="228600" indent="-228600">
              <a:buChar char="!"/>
            </a:pPr>
            <a:r>
              <a:rPr lang="en-US" sz="1000" b="1" dirty="0">
                <a:solidFill>
                  <a:srgbClr val="7B241C"/>
                </a:solidFill>
                <a:latin typeface="Calibri"/>
              </a:rPr>
              <a:t>On-Prem / VPC deployment</a:t>
            </a:r>
            <a:r>
              <a:rPr lang="en-US" sz="900" dirty="0">
                <a:solidFill>
                  <a:srgbClr val="7B241C"/>
                </a:solidFill>
                <a:latin typeface="Calibri"/>
              </a:rPr>
              <a:t xml:space="preserve"> — Enterprise plan only (Contact Us pricing). Not in Premium or Free tiers.</a:t>
            </a:r>
          </a:p>
          <a:p>
            <a:pPr>
              <a:spcBef>
                <a:spcPts val="500"/>
              </a:spcBef>
            </a:pPr>
            <a:endParaRPr/>
          </a:p>
          <a:p>
            <a:pPr marL="0" indent="0" algn="l">
              <a:buNone/>
            </a:pPr>
            <a:r>
              <a:rPr lang="en-US" sz="950" b="1" dirty="0">
                <a:solidFill>
                  <a:srgbClr val="922B21"/>
                </a:solidFill>
                <a:latin typeface="Calibri"/>
              </a:rPr>
              <a:t xml:space="preserve">DHA Action Required: </a:t>
            </a:r>
            <a:r>
              <a:rPr lang="en-US" sz="900" dirty="0">
                <a:solidFill>
                  <a:srgbClr val="7B241C"/>
                </a:solidFill>
                <a:latin typeface="Calibri"/>
              </a:rPr>
              <a:t>For UAE/DHA context: HIPAA is a US standard — DHA compliance requires UAE PDPL + ISO 27001 assessment. Obtain DPA + air-gap deployment confirmation from CodeAnt before procurement.on before any code is shared. Reference: codeant.ai/customer-story/commvault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567D"/>
          </a:solidFill>
          <a:ln w="12700" cap="flat" cmpd="sng">
            <a:solidFill>
              <a:srgbClr val="0056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457200" y="22860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Top 10 Things AI Can Do in This Use Case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7498080" y="182880"/>
            <a:ext cx="1463040" cy="548640"/>
          </a:xfrm>
          <a:prstGeom prst="rect">
            <a:avLst/>
          </a:prstGeom>
          <a:solidFill>
            <a:srgbClr val="00A1C2"/>
          </a:solidFill>
          <a:ln w="12700" cap="flat" cmpd="sng">
            <a:solidFill>
              <a:srgbClr val="00A1C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7498080" y="18288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Dubai Health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365760" y="1143000"/>
            <a:ext cx="4114800" cy="713232"/>
          </a:xfrm>
          <a:prstGeom prst="rect">
            <a:avLst/>
          </a:prstGeom>
          <a:solidFill>
            <a:srgbClr val="EBF7FC"/>
          </a:solidFill>
          <a:ln w="9525" cap="flat" cmpd="sng">
            <a:solidFill>
              <a:srgbClr val="D0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4" name="Google Shape;124;p5"/>
          <p:cNvSpPr/>
          <p:nvPr/>
        </p:nvSpPr>
        <p:spPr>
          <a:xfrm>
            <a:off x="365760" y="1143000"/>
            <a:ext cx="457200" cy="713232"/>
          </a:xfrm>
          <a:prstGeom prst="rect">
            <a:avLst/>
          </a:prstGeom>
          <a:solidFill>
            <a:srgbClr val="00567D"/>
          </a:solidFill>
          <a:ln w="12700" cap="flat" cmpd="sng">
            <a:solidFill>
              <a:srgbClr val="0056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365760" y="1143000"/>
            <a:ext cx="4572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896112" y="1179576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67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0567D"/>
                </a:solidFill>
                <a:latin typeface="Calibri"/>
                <a:ea typeface="Calibri"/>
                <a:cs typeface="Calibri"/>
                <a:sym typeface="Calibri"/>
              </a:rPr>
              <a:t>Detect Inefficient Queries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896112" y="1490472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Identify code triggering slow or repeated DB queries (N+1 issues)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4754880" y="1143000"/>
            <a:ext cx="4114800" cy="713232"/>
          </a:xfrm>
          <a:prstGeom prst="rect">
            <a:avLst/>
          </a:prstGeom>
          <a:solidFill>
            <a:srgbClr val="EBF7FC"/>
          </a:solidFill>
          <a:ln w="9525" cap="flat" cmpd="sng">
            <a:solidFill>
              <a:srgbClr val="D0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4754880" y="1143000"/>
            <a:ext cx="457200" cy="713232"/>
          </a:xfrm>
          <a:prstGeom prst="rect">
            <a:avLst/>
          </a:prstGeom>
          <a:solidFill>
            <a:srgbClr val="00567D"/>
          </a:solidFill>
          <a:ln w="12700" cap="flat" cmpd="sng">
            <a:solidFill>
              <a:srgbClr val="0056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4754880" y="1143000"/>
            <a:ext cx="4572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5285232" y="1179576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67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0567D"/>
                </a:solidFill>
                <a:latin typeface="Calibri"/>
                <a:ea typeface="Calibri"/>
                <a:cs typeface="Calibri"/>
                <a:sym typeface="Calibri"/>
              </a:rPr>
              <a:t>Find Missing Pagination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5285232" y="1490472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Flag endpoints returning very large datasets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365760" y="1938528"/>
            <a:ext cx="4114800" cy="713232"/>
          </a:xfrm>
          <a:prstGeom prst="rect">
            <a:avLst/>
          </a:prstGeom>
          <a:solidFill>
            <a:srgbClr val="EBF7FC"/>
          </a:solidFill>
          <a:ln w="9525" cap="flat" cmpd="sng">
            <a:solidFill>
              <a:srgbClr val="D0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365760" y="1938528"/>
            <a:ext cx="457200" cy="713232"/>
          </a:xfrm>
          <a:prstGeom prst="rect">
            <a:avLst/>
          </a:prstGeom>
          <a:solidFill>
            <a:srgbClr val="00567D"/>
          </a:solidFill>
          <a:ln w="12700" cap="flat" cmpd="sng">
            <a:solidFill>
              <a:srgbClr val="0056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365760" y="1938528"/>
            <a:ext cx="4572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896112" y="1975104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67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0567D"/>
                </a:solidFill>
                <a:latin typeface="Calibri"/>
                <a:ea typeface="Calibri"/>
                <a:cs typeface="Calibri"/>
                <a:sym typeface="Calibri"/>
              </a:rPr>
              <a:t>Highlight Blocking Operations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896112" y="2286000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Detect synchronous code slowing request handling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4754880" y="1938528"/>
            <a:ext cx="4114800" cy="713232"/>
          </a:xfrm>
          <a:prstGeom prst="rect">
            <a:avLst/>
          </a:prstGeom>
          <a:solidFill>
            <a:srgbClr val="EBF7FC"/>
          </a:solidFill>
          <a:ln w="9525" cap="flat" cmpd="sng">
            <a:solidFill>
              <a:srgbClr val="D0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4754880" y="1938528"/>
            <a:ext cx="457200" cy="713232"/>
          </a:xfrm>
          <a:prstGeom prst="rect">
            <a:avLst/>
          </a:prstGeom>
          <a:solidFill>
            <a:srgbClr val="00567D"/>
          </a:solidFill>
          <a:ln w="12700" cap="flat" cmpd="sng">
            <a:solidFill>
              <a:srgbClr val="0056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4754880" y="1938528"/>
            <a:ext cx="4572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5285232" y="1975104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67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0567D"/>
                </a:solidFill>
                <a:latin typeface="Calibri"/>
                <a:ea typeface="Calibri"/>
                <a:cs typeface="Calibri"/>
                <a:sym typeface="Calibri"/>
              </a:rPr>
              <a:t>Identify Loops with Repeated Calls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5285232" y="2286000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Spot patterns that multiply execution time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365760" y="2734056"/>
            <a:ext cx="4114800" cy="713232"/>
          </a:xfrm>
          <a:prstGeom prst="rect">
            <a:avLst/>
          </a:prstGeom>
          <a:solidFill>
            <a:srgbClr val="EBF7FC"/>
          </a:solidFill>
          <a:ln w="9525" cap="flat" cmpd="sng">
            <a:solidFill>
              <a:srgbClr val="D0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365760" y="2734056"/>
            <a:ext cx="457200" cy="713232"/>
          </a:xfrm>
          <a:prstGeom prst="rect">
            <a:avLst/>
          </a:prstGeom>
          <a:solidFill>
            <a:srgbClr val="00567D"/>
          </a:solidFill>
          <a:ln w="12700" cap="flat" cmpd="sng">
            <a:solidFill>
              <a:srgbClr val="0056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365760" y="2734056"/>
            <a:ext cx="4572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896112" y="2770632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67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0567D"/>
                </a:solidFill>
                <a:latin typeface="Calibri"/>
                <a:ea typeface="Calibri"/>
                <a:cs typeface="Calibri"/>
                <a:sym typeface="Calibri"/>
              </a:rPr>
              <a:t>Review External Dependencies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896112" y="3081528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Highlight inefficient calls to other services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4754880" y="2734056"/>
            <a:ext cx="4114800" cy="713232"/>
          </a:xfrm>
          <a:prstGeom prst="rect">
            <a:avLst/>
          </a:prstGeom>
          <a:solidFill>
            <a:srgbClr val="EBF7FC"/>
          </a:solidFill>
          <a:ln w="9525" cap="flat" cmpd="sng">
            <a:solidFill>
              <a:srgbClr val="D0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4754880" y="2734056"/>
            <a:ext cx="457200" cy="713232"/>
          </a:xfrm>
          <a:prstGeom prst="rect">
            <a:avLst/>
          </a:prstGeom>
          <a:solidFill>
            <a:srgbClr val="00567D"/>
          </a:solidFill>
          <a:ln w="12700" cap="flat" cmpd="sng">
            <a:solidFill>
              <a:srgbClr val="0056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4754880" y="2734056"/>
            <a:ext cx="4572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5285232" y="2770632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67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0567D"/>
                </a:solidFill>
                <a:latin typeface="Calibri"/>
                <a:ea typeface="Calibri"/>
                <a:cs typeface="Calibri"/>
                <a:sym typeface="Calibri"/>
              </a:rPr>
              <a:t>Suggest Caching Opportunities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5285232" y="3081528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Recommend where caching could reduce repeated work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365760" y="3529584"/>
            <a:ext cx="4114800" cy="713232"/>
          </a:xfrm>
          <a:prstGeom prst="rect">
            <a:avLst/>
          </a:prstGeom>
          <a:solidFill>
            <a:srgbClr val="EBF7FC"/>
          </a:solidFill>
          <a:ln w="9525" cap="flat" cmpd="sng">
            <a:solidFill>
              <a:srgbClr val="D0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5"/>
          <p:cNvSpPr/>
          <p:nvPr/>
        </p:nvSpPr>
        <p:spPr>
          <a:xfrm>
            <a:off x="365760" y="3529584"/>
            <a:ext cx="457200" cy="713232"/>
          </a:xfrm>
          <a:prstGeom prst="rect">
            <a:avLst/>
          </a:prstGeom>
          <a:solidFill>
            <a:srgbClr val="00567D"/>
          </a:solidFill>
          <a:ln w="12700" cap="flat" cmpd="sng">
            <a:solidFill>
              <a:srgbClr val="0056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365760" y="3529584"/>
            <a:ext cx="4572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896112" y="3566160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67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0567D"/>
                </a:solidFill>
                <a:latin typeface="Calibri"/>
                <a:ea typeface="Calibri"/>
                <a:cs typeface="Calibri"/>
                <a:sym typeface="Calibri"/>
              </a:rPr>
              <a:t>Detect Heavy Payload Risks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896112" y="3877056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Flag large responses or unnecessary data fields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4754880" y="3529584"/>
            <a:ext cx="4114800" cy="713232"/>
          </a:xfrm>
          <a:prstGeom prst="rect">
            <a:avLst/>
          </a:prstGeom>
          <a:solidFill>
            <a:srgbClr val="EBF7FC"/>
          </a:solidFill>
          <a:ln w="9525" cap="flat" cmpd="sng">
            <a:solidFill>
              <a:srgbClr val="D0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4754880" y="3529584"/>
            <a:ext cx="457200" cy="713232"/>
          </a:xfrm>
          <a:prstGeom prst="rect">
            <a:avLst/>
          </a:prstGeom>
          <a:solidFill>
            <a:srgbClr val="00567D"/>
          </a:solidFill>
          <a:ln w="12700" cap="flat" cmpd="sng">
            <a:solidFill>
              <a:srgbClr val="0056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5"/>
          <p:cNvSpPr/>
          <p:nvPr/>
        </p:nvSpPr>
        <p:spPr>
          <a:xfrm>
            <a:off x="4754880" y="3529584"/>
            <a:ext cx="4572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5285232" y="3566160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67D"/>
              </a:buClr>
              <a:buSzPts val="1100"/>
              <a:buFont typeface="Calibri"/>
              <a:buNone/>
            </a:pPr>
            <a:r>
              <a:rPr lang="en-US" sz="1100" b="1" i="0" u="none" strike="noStrike" cap="none" dirty="0">
                <a:solidFill>
                  <a:srgbClr val="00567D"/>
                </a:solidFill>
                <a:latin typeface="Calibri"/>
                <a:ea typeface="Calibri"/>
                <a:cs typeface="Calibri"/>
                <a:sym typeface="Calibri"/>
              </a:rPr>
              <a:t>Identify Poor Memory Processing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5285232" y="3877056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Highlight in-memory filtering done inefficiently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365760" y="4325112"/>
            <a:ext cx="4114800" cy="713232"/>
          </a:xfrm>
          <a:prstGeom prst="rect">
            <a:avLst/>
          </a:prstGeom>
          <a:solidFill>
            <a:srgbClr val="EBF7FC"/>
          </a:solidFill>
          <a:ln w="9525" cap="flat" cmpd="sng">
            <a:solidFill>
              <a:srgbClr val="D0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5"/>
          <p:cNvSpPr/>
          <p:nvPr/>
        </p:nvSpPr>
        <p:spPr>
          <a:xfrm>
            <a:off x="365760" y="4325112"/>
            <a:ext cx="457200" cy="713232"/>
          </a:xfrm>
          <a:prstGeom prst="rect">
            <a:avLst/>
          </a:prstGeom>
          <a:solidFill>
            <a:srgbClr val="00567D"/>
          </a:solidFill>
          <a:ln w="12700" cap="flat" cmpd="sng">
            <a:solidFill>
              <a:srgbClr val="0056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365760" y="4325112"/>
            <a:ext cx="4572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896112" y="4361688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67D"/>
              </a:buClr>
              <a:buSzPts val="1100"/>
              <a:buFont typeface="Calibri"/>
              <a:buNone/>
            </a:pPr>
            <a:r>
              <a:rPr lang="en-US" sz="1100" b="1" i="0" u="none" strike="noStrike" cap="none" dirty="0">
                <a:solidFill>
                  <a:srgbClr val="00567D"/>
                </a:solidFill>
                <a:latin typeface="Calibri"/>
                <a:ea typeface="Calibri"/>
                <a:cs typeface="Calibri"/>
                <a:sym typeface="Calibri"/>
              </a:rPr>
              <a:t>Recommend Architecture Improvements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896112" y="4672584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Suggest better design patterns for scalability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4754880" y="4325112"/>
            <a:ext cx="4114800" cy="713232"/>
          </a:xfrm>
          <a:prstGeom prst="rect">
            <a:avLst/>
          </a:prstGeom>
          <a:solidFill>
            <a:srgbClr val="EBF7FC"/>
          </a:solidFill>
          <a:ln w="9525" cap="flat" cmpd="sng">
            <a:solidFill>
              <a:srgbClr val="D0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4754880" y="4325112"/>
            <a:ext cx="457200" cy="713232"/>
          </a:xfrm>
          <a:prstGeom prst="rect">
            <a:avLst/>
          </a:prstGeom>
          <a:solidFill>
            <a:srgbClr val="00567D"/>
          </a:solidFill>
          <a:ln w="12700" cap="flat" cmpd="sng">
            <a:solidFill>
              <a:srgbClr val="0056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4754880" y="4325112"/>
            <a:ext cx="4572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5285232" y="4361688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67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0567D"/>
                </a:solidFill>
                <a:latin typeface="Calibri"/>
                <a:ea typeface="Calibri"/>
                <a:cs typeface="Calibri"/>
                <a:sym typeface="Calibri"/>
              </a:rPr>
              <a:t>Generate Code Review Summaries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5285232" y="4672584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Structured summary of performance risks found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E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randTitle"/>
          <p:cNvSpPr txBox="1"/>
          <p:nvPr/>
        </p:nvSpPr>
        <p:spPr>
          <a:xfrm>
            <a:off x="2700000" y="180000"/>
            <a:ext cx="3744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/>
              </a:rPr>
              <a:t>CodeAnt AI</a:t>
            </a:r>
          </a:p>
        </p:txBody>
      </p:sp>
      <p:sp>
        <p:nvSpPr>
          <p:cNvPr id="4" name="MainTitle"/>
          <p:cNvSpPr txBox="1"/>
          <p:nvPr/>
        </p:nvSpPr>
        <p:spPr>
          <a:xfrm>
            <a:off x="1500000" y="550000"/>
            <a:ext cx="6144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Arial"/>
              </a:rPr>
              <a:t>AI Code Health Platform</a:t>
            </a:r>
          </a:p>
        </p:txBody>
      </p:sp>
      <p:sp>
        <p:nvSpPr>
          <p:cNvPr id="10" name="Card1Bg"/>
          <p:cNvSpPr/>
          <p:nvPr/>
        </p:nvSpPr>
        <p:spPr>
          <a:xfrm>
            <a:off x="350000" y="1200000"/>
            <a:ext cx="2021000" cy="355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Card1Header"/>
          <p:cNvSpPr/>
          <p:nvPr/>
        </p:nvSpPr>
        <p:spPr>
          <a:xfrm>
            <a:off x="470000" y="1280000"/>
            <a:ext cx="1780000" cy="300000"/>
          </a:xfrm>
          <a:prstGeom prst="roundRect">
            <a:avLst>
              <a:gd name="adj" fmla="val 12000"/>
            </a:avLst>
          </a:prstGeom>
          <a:solidFill>
            <a:srgbClr val="003E5C"/>
          </a:solidFill>
          <a:ln w="19050">
            <a:solidFill>
              <a:srgbClr val="003E5C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rial"/>
              </a:rPr>
              <a:t>AI Code Review</a:t>
            </a:r>
          </a:p>
        </p:txBody>
      </p:sp>
      <p:sp>
        <p:nvSpPr>
          <p:cNvPr id="12" name="Card1Body"/>
          <p:cNvSpPr txBox="1"/>
          <p:nvPr/>
        </p:nvSpPr>
        <p:spPr>
          <a:xfrm>
            <a:off x="420000" y="1650000"/>
            <a:ext cx="1880000" cy="31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36576" rIns="91440" bIns="36576" anchor="t"/>
          <a:lstStyle/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Instant PR Summary</a:t>
            </a:r>
          </a:p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Contextual PR Chat</a:t>
            </a:r>
          </a:p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Jira Ticket Scope Match</a:t>
            </a:r>
          </a:p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Inline AI Review</a:t>
            </a:r>
          </a:p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AI SAST for PR</a:t>
            </a:r>
          </a:p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AI Secret Scan for PR</a:t>
            </a:r>
          </a:p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AI IaC Drift Scan</a:t>
            </a:r>
          </a:p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Review Insights Dashboard</a:t>
            </a:r>
          </a:p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CI/CD Review Hook</a:t>
            </a:r>
          </a:p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Custom AI Review Rules</a:t>
            </a:r>
          </a:p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AI PR Feedback</a:t>
            </a:r>
          </a:p>
        </p:txBody>
      </p:sp>
      <p:sp>
        <p:nvSpPr>
          <p:cNvPr id="20" name="Card2Bg"/>
          <p:cNvSpPr/>
          <p:nvPr/>
        </p:nvSpPr>
        <p:spPr>
          <a:xfrm>
            <a:off x="2511000" y="1200000"/>
            <a:ext cx="2021000" cy="355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Card2Header"/>
          <p:cNvSpPr/>
          <p:nvPr/>
        </p:nvSpPr>
        <p:spPr>
          <a:xfrm>
            <a:off x="2631000" y="1280000"/>
            <a:ext cx="1780000" cy="300000"/>
          </a:xfrm>
          <a:prstGeom prst="roundRect">
            <a:avLst>
              <a:gd name="adj" fmla="val 12000"/>
            </a:avLst>
          </a:prstGeom>
          <a:solidFill>
            <a:srgbClr val="003E5C"/>
          </a:solidFill>
          <a:ln w="19050">
            <a:solidFill>
              <a:srgbClr val="003E5C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rial"/>
              </a:rPr>
              <a:t>AI Code Security</a:t>
            </a:r>
          </a:p>
        </p:txBody>
      </p:sp>
      <p:sp>
        <p:nvSpPr>
          <p:cNvPr id="22" name="Card2Body"/>
          <p:cNvSpPr txBox="1"/>
          <p:nvPr/>
        </p:nvSpPr>
        <p:spPr>
          <a:xfrm>
            <a:off x="2581000" y="1650000"/>
            <a:ext cx="1880000" cy="31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36576" rIns="91440" bIns="36576" anchor="t"/>
          <a:lstStyle/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SAST</a:t>
            </a:r>
          </a:p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IaC &amp; Cloud Misconfig Scanning</a:t>
            </a:r>
          </a:p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SCA</a:t>
            </a:r>
          </a:p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End of Life Dependency Detection</a:t>
            </a:r>
          </a:p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Secret Scanning</a:t>
            </a:r>
          </a:p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Code Security Gating</a:t>
            </a:r>
          </a:p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Code Security Dashboard</a:t>
            </a:r>
          </a:p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PDF Report</a:t>
            </a:r>
          </a:p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AI Code Security Review</a:t>
            </a:r>
          </a:p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Security Reporting</a:t>
            </a:r>
          </a:p>
        </p:txBody>
      </p:sp>
      <p:sp>
        <p:nvSpPr>
          <p:cNvPr id="30" name="Card3Bg"/>
          <p:cNvSpPr/>
          <p:nvPr/>
        </p:nvSpPr>
        <p:spPr>
          <a:xfrm>
            <a:off x="4672000" y="1200000"/>
            <a:ext cx="2021000" cy="355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Card3Header"/>
          <p:cNvSpPr/>
          <p:nvPr/>
        </p:nvSpPr>
        <p:spPr>
          <a:xfrm>
            <a:off x="4792000" y="1280000"/>
            <a:ext cx="1780000" cy="300000"/>
          </a:xfrm>
          <a:prstGeom prst="roundRect">
            <a:avLst>
              <a:gd name="adj" fmla="val 12000"/>
            </a:avLst>
          </a:prstGeom>
          <a:solidFill>
            <a:srgbClr val="003E5C"/>
          </a:solidFill>
          <a:ln w="19050">
            <a:solidFill>
              <a:srgbClr val="003E5C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rial"/>
              </a:rPr>
              <a:t>AI Code Quality</a:t>
            </a:r>
          </a:p>
        </p:txBody>
      </p:sp>
      <p:sp>
        <p:nvSpPr>
          <p:cNvPr id="32" name="Card3Body"/>
          <p:cNvSpPr txBox="1"/>
          <p:nvPr/>
        </p:nvSpPr>
        <p:spPr>
          <a:xfrm>
            <a:off x="4742000" y="1650000"/>
            <a:ext cx="1880000" cy="31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36576" rIns="91440" bIns="36576" anchor="t"/>
          <a:lstStyle/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Static Code Analysis</a:t>
            </a:r>
          </a:p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Code Complexity Analysis</a:t>
            </a:r>
          </a:p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Code Test Coverage</a:t>
            </a:r>
          </a:p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AI Analysis</a:t>
            </a:r>
          </a:p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DORA Metrics</a:t>
            </a:r>
          </a:p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Organisation Wide Report</a:t>
            </a:r>
          </a:p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PDF Report</a:t>
            </a:r>
          </a:p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Custom Rules</a:t>
            </a:r>
          </a:p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Generate Docstrings</a:t>
            </a:r>
          </a:p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Dead Code Analysis</a:t>
            </a:r>
          </a:p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Duplicate Code Analysis</a:t>
            </a:r>
          </a:p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Code Quality Gates</a:t>
            </a:r>
          </a:p>
        </p:txBody>
      </p:sp>
      <p:sp>
        <p:nvSpPr>
          <p:cNvPr id="40" name="Card4Bg"/>
          <p:cNvSpPr/>
          <p:nvPr/>
        </p:nvSpPr>
        <p:spPr>
          <a:xfrm>
            <a:off x="6833000" y="1200000"/>
            <a:ext cx="2021000" cy="355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1" name="Card4Header"/>
          <p:cNvSpPr/>
          <p:nvPr/>
        </p:nvSpPr>
        <p:spPr>
          <a:xfrm>
            <a:off x="6953000" y="1280000"/>
            <a:ext cx="1780000" cy="300000"/>
          </a:xfrm>
          <a:prstGeom prst="roundRect">
            <a:avLst>
              <a:gd name="adj" fmla="val 12000"/>
            </a:avLst>
          </a:prstGeom>
          <a:solidFill>
            <a:srgbClr val="003E5C"/>
          </a:solidFill>
          <a:ln w="19050">
            <a:solidFill>
              <a:srgbClr val="003E5C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rial"/>
              </a:rPr>
              <a:t>Developer 360</a:t>
            </a:r>
          </a:p>
        </p:txBody>
      </p:sp>
      <p:sp>
        <p:nvSpPr>
          <p:cNvPr id="42" name="Card4Body"/>
          <p:cNvSpPr txBox="1"/>
          <p:nvPr/>
        </p:nvSpPr>
        <p:spPr>
          <a:xfrm>
            <a:off x="6903000" y="1650000"/>
            <a:ext cx="1880000" cy="31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36576" rIns="91440" bIns="36576" anchor="t"/>
          <a:lstStyle/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AI Developer Summaries</a:t>
            </a:r>
          </a:p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Contribution Metrics</a:t>
            </a:r>
          </a:p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Throughput Comparison</a:t>
            </a:r>
          </a:p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Developer Leaderboard</a:t>
            </a:r>
          </a:p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Org-Wide Metrics</a:t>
            </a:r>
          </a:p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CI/CD Pipeline</a:t>
            </a:r>
          </a:p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Pull Request Analytics</a:t>
            </a:r>
          </a:p>
        </p:txBody>
      </p:sp>
    </p:spTree>
    <p:extLst>
      <p:ext uri="{BB962C8B-B14F-4D97-AF65-F5344CB8AC3E}">
        <p14:creationId xmlns:p14="http://schemas.microsoft.com/office/powerpoint/2010/main" val="1965622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E5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51800C-F3C6-896A-2A9B-C3754A699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386BA1A-1B99-748F-6A66-B8A9E6BE1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8124" y="1313084"/>
            <a:ext cx="3632124" cy="37630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A917DE5-5A13-D157-A195-A58DB12695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590" y="1313084"/>
            <a:ext cx="3894410" cy="3763054"/>
          </a:xfrm>
          <a:prstGeom prst="rect">
            <a:avLst/>
          </a:prstGeom>
        </p:spPr>
      </p:pic>
      <p:sp>
        <p:nvSpPr>
          <p:cNvPr id="6" name="Google Shape;120;p5">
            <a:extLst>
              <a:ext uri="{FF2B5EF4-FFF2-40B4-BE49-F238E27FC236}">
                <a16:creationId xmlns:a16="http://schemas.microsoft.com/office/drawing/2014/main" id="{1CAC4A92-CE5C-721F-0407-1FF23F7B01F2}"/>
              </a:ext>
            </a:extLst>
          </p:cNvPr>
          <p:cNvSpPr/>
          <p:nvPr/>
        </p:nvSpPr>
        <p:spPr>
          <a:xfrm>
            <a:off x="2100755" y="713364"/>
            <a:ext cx="4942490" cy="480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Integrations</a:t>
            </a:r>
            <a:endParaRPr sz="2000" b="1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BrandTitle">
            <a:extLst>
              <a:ext uri="{FF2B5EF4-FFF2-40B4-BE49-F238E27FC236}">
                <a16:creationId xmlns:a16="http://schemas.microsoft.com/office/drawing/2014/main" id="{724A69AF-33D9-F04F-14AD-1313F0376DCA}"/>
              </a:ext>
            </a:extLst>
          </p:cNvPr>
          <p:cNvSpPr txBox="1"/>
          <p:nvPr/>
        </p:nvSpPr>
        <p:spPr>
          <a:xfrm>
            <a:off x="2700000" y="180000"/>
            <a:ext cx="3744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/>
              </a:rPr>
              <a:t>CodeAnt AI</a:t>
            </a:r>
          </a:p>
        </p:txBody>
      </p:sp>
    </p:spTree>
    <p:extLst>
      <p:ext uri="{BB962C8B-B14F-4D97-AF65-F5344CB8AC3E}">
        <p14:creationId xmlns:p14="http://schemas.microsoft.com/office/powerpoint/2010/main" val="1315080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567D"/>
          </a:solidFill>
          <a:ln>
            <a:solidFill>
              <a:srgbClr val="00567D"/>
            </a:solidFill>
          </a:ln>
        </p:spPr>
        <p:txBody>
          <a:bodyPr wrap="square" anchor="ctr"/>
          <a:lstStyle/>
          <a:p>
            <a:endParaRPr/>
          </a:p>
        </p:txBody>
      </p:sp>
      <p:sp>
        <p:nvSpPr>
          <p:cNvPr id="3" name="Title"/>
          <p:cNvSpPr/>
          <p:nvPr/>
        </p:nvSpPr>
        <p:spPr>
          <a:xfrm>
            <a:off x="457200" y="91440"/>
            <a:ext cx="70104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2200" b="1">
                <a:solidFill>
                  <a:srgbClr val="FFFFFF"/>
                </a:solidFill>
                <a:latin typeface="Calibri"/>
              </a:rPr>
              <a:t>Recommended Next Steps for Dubai Health</a:t>
            </a:r>
          </a:p>
        </p:txBody>
      </p:sp>
      <p:sp>
        <p:nvSpPr>
          <p:cNvPr id="4" name="DH"/>
          <p:cNvSpPr/>
          <p:nvPr/>
        </p:nvSpPr>
        <p:spPr>
          <a:xfrm>
            <a:off x="7620000" y="914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r"/>
            <a:r>
              <a:rPr lang="en-US" sz="1400" b="1">
                <a:solidFill>
                  <a:srgbClr val="FFFFFF"/>
                </a:solidFill>
                <a:latin typeface="Calibri"/>
              </a:rPr>
              <a:t>Dubai Health</a:t>
            </a:r>
          </a:p>
        </p:txBody>
      </p:sp>
      <p:sp>
        <p:nvSpPr>
          <p:cNvPr id="5" name="Phase1"/>
          <p:cNvSpPr/>
          <p:nvPr/>
        </p:nvSpPr>
        <p:spPr>
          <a:xfrm>
            <a:off x="457200" y="609600"/>
            <a:ext cx="3962400" cy="3962400"/>
          </a:xfrm>
          <a:prstGeom prst="rect">
            <a:avLst/>
          </a:prstGeom>
          <a:solidFill>
            <a:srgbClr val="EAFAF1"/>
          </a:solidFill>
          <a:ln w="19050">
            <a:solidFill>
              <a:srgbClr val="27AE60"/>
            </a:solidFill>
          </a:ln>
        </p:spPr>
        <p:txBody>
          <a:bodyPr wrap="square" lIns="91440" tIns="91440" rIns="91440" bIns="91440" anchor="t"/>
          <a:lstStyle/>
          <a:p>
            <a:r>
              <a:rPr lang="en-US" sz="1600" b="1">
                <a:solidFill>
                  <a:srgbClr val="27AE60"/>
                </a:solidFill>
                <a:latin typeface="Calibri"/>
              </a:rPr>
              <a:t>✔ Phase 1 — Do This Now</a:t>
            </a:r>
          </a:p>
          <a:p>
            <a:r>
              <a:rPr lang="en-US" sz="1200" b="1">
                <a:solidFill>
                  <a:srgbClr val="27AE60"/>
                </a:solidFill>
                <a:latin typeface="Calibri"/>
              </a:rPr>
              <a:t>SonarQube Enterprise + Azure OpenAI</a:t>
            </a:r>
          </a:p>
          <a:p>
            <a:r>
              <a:rPr lang="en-US" sz="1000" b="0" i="1">
                <a:solidFill>
                  <a:srgbClr val="27AE60"/>
                </a:solidFill>
                <a:latin typeface="Calibri"/>
              </a:rPr>
              <a:t>Timeline: Days — Configuration change only</a:t>
            </a:r>
          </a:p>
          <a:p>
            <a:r>
              <a:rPr lang="en-US" sz="90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100" b="1">
                <a:solidFill>
                  <a:srgbClr val="333333"/>
                </a:solidFill>
                <a:latin typeface="Calibri"/>
              </a:rPr>
              <a:t>Action items: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① Confirm DH SonarQube version is 2025.1+ (Enterprise)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② Admin enables AI CodeFix: Administration → Configuration → General Settings → AI CodeFix → Enable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③ Select BYO Azure OpenAI → enter sonar-demo-openai endpoint + API key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④ Whitelist outbound to api.sonarqube.io (for prompt templates)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⑤ Developers install SonarQube for VS Code + Connected Mode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⑥ Submit DHA AI governance notification (required for any AI tool)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⑦ Move Azure OpenAI resource to UAE North region for full data residency</a:t>
            </a:r>
          </a:p>
          <a:p>
            <a:r>
              <a:rPr lang="en-US" sz="90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000" b="1">
                <a:solidFill>
                  <a:srgbClr val="27AE60"/>
                </a:solidFill>
                <a:latin typeface="Calibri"/>
              </a:rPr>
              <a:t>✔ No new vendor. ✔ No new budget. ✔ Code stays in DH network.</a:t>
            </a:r>
          </a:p>
        </p:txBody>
      </p:sp>
      <p:sp>
        <p:nvSpPr>
          <p:cNvPr id="6" name="Phase2"/>
          <p:cNvSpPr/>
          <p:nvPr/>
        </p:nvSpPr>
        <p:spPr>
          <a:xfrm>
            <a:off x="4572000" y="609600"/>
            <a:ext cx="4114800" cy="3962400"/>
          </a:xfrm>
          <a:prstGeom prst="rect">
            <a:avLst/>
          </a:prstGeom>
          <a:solidFill>
            <a:srgbClr val="EBF5FB"/>
          </a:solidFill>
          <a:ln w="19050">
            <a:solidFill>
              <a:srgbClr val="00567D"/>
            </a:solidFill>
          </a:ln>
        </p:spPr>
        <p:txBody>
          <a:bodyPr wrap="square" lIns="91440" tIns="91440" rIns="91440" bIns="91440" anchor="t"/>
          <a:lstStyle/>
          <a:p>
            <a:r>
              <a:rPr lang="en-US" sz="1600" b="1">
                <a:solidFill>
                  <a:srgbClr val="00567D"/>
                </a:solidFill>
                <a:latin typeface="Calibri"/>
              </a:rPr>
              <a:t>📊 Phase 2 — Evaluate in Parallel</a:t>
            </a:r>
          </a:p>
          <a:p>
            <a:r>
              <a:rPr lang="en-US" sz="1200" b="1">
                <a:solidFill>
                  <a:srgbClr val="00567D"/>
                </a:solidFill>
                <a:latin typeface="Calibri"/>
              </a:rPr>
              <a:t>CodeAnt AI Enterprise / VPC Pilot</a:t>
            </a:r>
          </a:p>
          <a:p>
            <a:r>
              <a:rPr lang="en-US" sz="1000" b="0" i="1">
                <a:solidFill>
                  <a:srgbClr val="00567D"/>
                </a:solidFill>
                <a:latin typeface="Calibri"/>
              </a:rPr>
              <a:t>Timeline: 2–4 weeks — Procurement + VPC setup</a:t>
            </a:r>
          </a:p>
          <a:p>
            <a:r>
              <a:rPr lang="en-US" sz="90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100" b="1">
                <a:solidFill>
                  <a:srgbClr val="333333"/>
                </a:solidFill>
                <a:latin typeface="Calibri"/>
              </a:rPr>
              <a:t>Action items: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① Contact CodeAnt sales — request Enterprise VPC/air-gap quote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② Confirm: LLM model used in air-gap mode (contractual NDA/DPA)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③ Request VPC deployment inside DH Azure subscription (UAE North)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④ Run 2-week pilot on one real internal project with Azure DevOps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⑤ Measure: PR review quality, DORA metrics, Jira integration value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⑥ Submit DHA AI governance approval for CodeAnt (required)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⑦ Sign DPA with no-training clause + UAE PDPL compliance confirmation</a:t>
            </a:r>
          </a:p>
          <a:p>
            <a:r>
              <a:rPr lang="en-US" sz="90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000" b="1">
                <a:solidFill>
                  <a:srgbClr val="00567D"/>
                </a:solidFill>
                <a:latin typeface="Calibri"/>
              </a:rPr>
              <a:t>Evaluate for: AI-native PR review, DORA metrics, engineering productivity.</a:t>
            </a:r>
          </a:p>
        </p:txBody>
      </p:sp>
      <p:sp>
        <p:nvSpPr>
          <p:cNvPr id="7" name="Ftr"/>
          <p:cNvSpPr/>
          <p:nvPr/>
        </p:nvSpPr>
        <p:spPr>
          <a:xfrm>
            <a:off x="0" y="4877040"/>
            <a:ext cx="9144000" cy="266460"/>
          </a:xfrm>
          <a:prstGeom prst="rect">
            <a:avLst/>
          </a:prstGeom>
          <a:solidFill>
            <a:srgbClr val="00567D"/>
          </a:solidFill>
          <a:ln>
            <a:solidFill>
              <a:srgbClr val="00567D"/>
            </a:solidFill>
          </a:ln>
        </p:spPr>
        <p:txBody>
          <a:bodyPr wrap="square" anchor="ctr"/>
          <a:lstStyle/>
          <a:p>
            <a:pPr algn="r"/>
            <a:r>
              <a:rPr lang="en-US" sz="900" b="0">
                <a:solidFill>
                  <a:srgbClr val="FFFFFF"/>
                </a:solidFill>
                <a:latin typeface="Calibri"/>
              </a:rPr>
              <a:t>Dubai Health — Internal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7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567D"/>
          </a:solidFill>
          <a:ln w="12700" cap="flat" cmpd="sng">
            <a:solidFill>
              <a:srgbClr val="0056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7"/>
          <p:cNvSpPr/>
          <p:nvPr/>
        </p:nvSpPr>
        <p:spPr>
          <a:xfrm>
            <a:off x="457200" y="22860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Secure Implementation in a Government Environment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7498080" y="182880"/>
            <a:ext cx="1463040" cy="548640"/>
          </a:xfrm>
          <a:prstGeom prst="rect">
            <a:avLst/>
          </a:prstGeom>
          <a:solidFill>
            <a:srgbClr val="00A1C2"/>
          </a:solidFill>
          <a:ln w="12700" cap="flat" cmpd="sng">
            <a:solidFill>
              <a:srgbClr val="00A1C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7"/>
          <p:cNvSpPr/>
          <p:nvPr/>
        </p:nvSpPr>
        <p:spPr>
          <a:xfrm>
            <a:off x="7498080" y="18288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Dubai Health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365760" y="1143000"/>
            <a:ext cx="4160520" cy="804672"/>
          </a:xfrm>
          <a:prstGeom prst="rect">
            <a:avLst/>
          </a:prstGeom>
          <a:solidFill>
            <a:srgbClr val="EBF7FC"/>
          </a:solidFill>
          <a:ln w="9525" cap="flat" cmpd="sng">
            <a:solidFill>
              <a:srgbClr val="D0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7"/>
          <p:cNvSpPr/>
          <p:nvPr/>
        </p:nvSpPr>
        <p:spPr>
          <a:xfrm>
            <a:off x="365760" y="1143000"/>
            <a:ext cx="54864" cy="804672"/>
          </a:xfrm>
          <a:prstGeom prst="rect">
            <a:avLst/>
          </a:prstGeom>
          <a:solidFill>
            <a:srgbClr val="00A1C2"/>
          </a:solidFill>
          <a:ln w="12700" cap="flat" cmpd="sng">
            <a:solidFill>
              <a:srgbClr val="00A1C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7"/>
          <p:cNvSpPr/>
          <p:nvPr/>
        </p:nvSpPr>
        <p:spPr>
          <a:xfrm>
            <a:off x="475488" y="12801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🏢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1024128" y="1197864"/>
            <a:ext cx="340156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67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0567D"/>
                </a:solidFill>
                <a:latin typeface="Calibri"/>
                <a:ea typeface="Calibri"/>
                <a:cs typeface="Calibri"/>
                <a:sym typeface="Calibri"/>
              </a:rPr>
              <a:t>Private Enterprise Only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1024128" y="1508760"/>
            <a:ext cx="340156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Use AI exclusively within DH private infrastructure. DHA AI Policy (2021) governance approval required before any AI tool deployment.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4800600" y="1143000"/>
            <a:ext cx="4160520" cy="804672"/>
          </a:xfrm>
          <a:prstGeom prst="rect">
            <a:avLst/>
          </a:prstGeom>
          <a:solidFill>
            <a:srgbClr val="EBF7FC"/>
          </a:solidFill>
          <a:ln w="9525" cap="flat" cmpd="sng">
            <a:solidFill>
              <a:srgbClr val="D0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7"/>
          <p:cNvSpPr/>
          <p:nvPr/>
        </p:nvSpPr>
        <p:spPr>
          <a:xfrm>
            <a:off x="4800600" y="1143000"/>
            <a:ext cx="54864" cy="804672"/>
          </a:xfrm>
          <a:prstGeom prst="rect">
            <a:avLst/>
          </a:prstGeom>
          <a:solidFill>
            <a:srgbClr val="00A1C2"/>
          </a:solidFill>
          <a:ln w="12700" cap="flat" cmpd="sng">
            <a:solidFill>
              <a:srgbClr val="00A1C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7"/>
          <p:cNvSpPr/>
          <p:nvPr/>
        </p:nvSpPr>
        <p:spPr>
          <a:xfrm>
            <a:off x="4910328" y="12801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🚫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5458968" y="1197864"/>
            <a:ext cx="340156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67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0567D"/>
                </a:solidFill>
                <a:latin typeface="Calibri"/>
                <a:ea typeface="Calibri"/>
                <a:cs typeface="Calibri"/>
                <a:sym typeface="Calibri"/>
              </a:rPr>
              <a:t>No Public AI Tools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5458968" y="1508760"/>
            <a:ext cx="340156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Do not upload code to public AI tools. Enterprise on-prem or VPC deployment required. Ensure DPA and air-gap contract in place.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365760" y="2057400"/>
            <a:ext cx="4160520" cy="804672"/>
          </a:xfrm>
          <a:prstGeom prst="rect">
            <a:avLst/>
          </a:prstGeom>
          <a:solidFill>
            <a:srgbClr val="EBF7FC"/>
          </a:solidFill>
          <a:ln w="9525" cap="flat" cmpd="sng">
            <a:solidFill>
              <a:srgbClr val="D0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7"/>
          <p:cNvSpPr/>
          <p:nvPr/>
        </p:nvSpPr>
        <p:spPr>
          <a:xfrm>
            <a:off x="365760" y="2057400"/>
            <a:ext cx="54864" cy="804672"/>
          </a:xfrm>
          <a:prstGeom prst="rect">
            <a:avLst/>
          </a:prstGeom>
          <a:solidFill>
            <a:srgbClr val="00A1C2"/>
          </a:solidFill>
          <a:ln w="12700" cap="flat" cmpd="sng">
            <a:solidFill>
              <a:srgbClr val="00A1C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7"/>
          <p:cNvSpPr/>
          <p:nvPr/>
        </p:nvSpPr>
        <p:spPr>
          <a:xfrm>
            <a:off x="475488" y="21945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🔒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1024128" y="2112264"/>
            <a:ext cx="340156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67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0567D"/>
                </a:solidFill>
                <a:latin typeface="Calibri"/>
                <a:ea typeface="Calibri"/>
                <a:cs typeface="Calibri"/>
                <a:sym typeface="Calibri"/>
              </a:rPr>
              <a:t>Mask Sensitive Data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1024128" y="2423160"/>
            <a:ext cx="340156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Mask org names, URLs, tokens, secrets, and connection strings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4800600" y="2057400"/>
            <a:ext cx="4160520" cy="804672"/>
          </a:xfrm>
          <a:prstGeom prst="rect">
            <a:avLst/>
          </a:prstGeom>
          <a:solidFill>
            <a:srgbClr val="EBF7FC"/>
          </a:solidFill>
          <a:ln w="9525" cap="flat" cmpd="sng">
            <a:solidFill>
              <a:srgbClr val="D0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7"/>
          <p:cNvSpPr/>
          <p:nvPr/>
        </p:nvSpPr>
        <p:spPr>
          <a:xfrm>
            <a:off x="4800600" y="2057400"/>
            <a:ext cx="54864" cy="804672"/>
          </a:xfrm>
          <a:prstGeom prst="rect">
            <a:avLst/>
          </a:prstGeom>
          <a:solidFill>
            <a:srgbClr val="00A1C2"/>
          </a:solidFill>
          <a:ln w="12700" cap="flat" cmpd="sng">
            <a:solidFill>
              <a:srgbClr val="00A1C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7"/>
          <p:cNvSpPr/>
          <p:nvPr/>
        </p:nvSpPr>
        <p:spPr>
          <a:xfrm>
            <a:off x="4910328" y="21945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5458968" y="2112264"/>
            <a:ext cx="340156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67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0567D"/>
                </a:solidFill>
                <a:latin typeface="Calibri"/>
                <a:ea typeface="Calibri"/>
                <a:cs typeface="Calibri"/>
                <a:sym typeface="Calibri"/>
              </a:rPr>
              <a:t>Exclude Credentials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5458968" y="2423160"/>
            <a:ext cx="340156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Exclude production credentials and sensitive config files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4800600" y="2971800"/>
            <a:ext cx="4160520" cy="804672"/>
          </a:xfrm>
          <a:prstGeom prst="rect">
            <a:avLst/>
          </a:prstGeom>
          <a:solidFill>
            <a:srgbClr val="EBF7FC"/>
          </a:solidFill>
          <a:ln w="9525" cap="flat" cmpd="sng">
            <a:solidFill>
              <a:srgbClr val="D0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7"/>
          <p:cNvSpPr/>
          <p:nvPr/>
        </p:nvSpPr>
        <p:spPr>
          <a:xfrm>
            <a:off x="4800600" y="2971800"/>
            <a:ext cx="54864" cy="804672"/>
          </a:xfrm>
          <a:prstGeom prst="rect">
            <a:avLst/>
          </a:prstGeom>
          <a:solidFill>
            <a:srgbClr val="00A1C2"/>
          </a:solidFill>
          <a:ln w="12700" cap="flat" cmpd="sng">
            <a:solidFill>
              <a:srgbClr val="00A1C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7"/>
          <p:cNvSpPr/>
          <p:nvPr/>
        </p:nvSpPr>
        <p:spPr>
          <a:xfrm>
            <a:off x="4910328" y="31089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📋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5458968" y="3026664"/>
            <a:ext cx="340156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67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0567D"/>
                </a:solidFill>
                <a:latin typeface="Calibri"/>
                <a:ea typeface="Calibri"/>
                <a:cs typeface="Calibri"/>
                <a:sym typeface="Calibri"/>
              </a:rPr>
              <a:t>Audit Logging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5458968" y="3337560"/>
            <a:ext cx="340156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Record and keep a trace of every code review activity done by the AI for (accountability , traceability)</a:t>
            </a:r>
            <a:endParaRPr sz="1000" dirty="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365750" y="2971800"/>
            <a:ext cx="4160400" cy="804600"/>
          </a:xfrm>
          <a:prstGeom prst="rect">
            <a:avLst/>
          </a:prstGeom>
          <a:solidFill>
            <a:srgbClr val="EBF7FC"/>
          </a:solidFill>
          <a:ln w="9525" cap="flat" cmpd="sng">
            <a:solidFill>
              <a:srgbClr val="D0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7"/>
          <p:cNvSpPr/>
          <p:nvPr/>
        </p:nvSpPr>
        <p:spPr>
          <a:xfrm>
            <a:off x="365750" y="2971800"/>
            <a:ext cx="54900" cy="804600"/>
          </a:xfrm>
          <a:prstGeom prst="rect">
            <a:avLst/>
          </a:prstGeom>
          <a:solidFill>
            <a:srgbClr val="00A1C2"/>
          </a:solidFill>
          <a:ln w="12700" cap="flat" cmpd="sng">
            <a:solidFill>
              <a:srgbClr val="00A1C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7"/>
          <p:cNvSpPr/>
          <p:nvPr/>
        </p:nvSpPr>
        <p:spPr>
          <a:xfrm>
            <a:off x="475478" y="3108960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✋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1033093" y="3063239"/>
            <a:ext cx="34017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67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0567D"/>
                </a:solidFill>
                <a:latin typeface="Calibri"/>
                <a:ea typeface="Calibri"/>
                <a:cs typeface="Calibri"/>
                <a:sym typeface="Calibri"/>
              </a:rPr>
              <a:t>Human Approval Required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1024118" y="3337560"/>
            <a:ext cx="34017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AI suggestions and fix proposals require developer review and explicit approval before applying. No automatic merges without human decision.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567D"/>
          </a:solidFill>
          <a:ln>
            <a:solidFill>
              <a:srgbClr val="00567D"/>
            </a:solidFill>
          </a:ln>
        </p:spPr>
        <p:txBody>
          <a:bodyPr wrap="square" anchor="ctr"/>
          <a:lstStyle/>
          <a:p>
            <a:endParaRPr/>
          </a:p>
        </p:txBody>
      </p:sp>
      <p:sp>
        <p:nvSpPr>
          <p:cNvPr id="3" name="Title"/>
          <p:cNvSpPr/>
          <p:nvPr/>
        </p:nvSpPr>
        <p:spPr>
          <a:xfrm>
            <a:off x="457200" y="9144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2200" b="1" i="0">
                <a:solidFill>
                  <a:srgbClr val="FFFFFF"/>
                </a:solidFill>
                <a:latin typeface="Calibri"/>
              </a:rPr>
              <a:t>Live Demo Results</a:t>
            </a:r>
          </a:p>
        </p:txBody>
      </p:sp>
      <p:sp>
        <p:nvSpPr>
          <p:cNvPr id="4" name="DubaiHealth"/>
          <p:cNvSpPr/>
          <p:nvPr/>
        </p:nvSpPr>
        <p:spPr>
          <a:xfrm>
            <a:off x="7620000" y="914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r"/>
            <a:r>
              <a:rPr lang="en-US" sz="1400" b="1" i="0">
                <a:solidFill>
                  <a:srgbClr val="FFFFFF"/>
                </a:solidFill>
                <a:latin typeface="Calibri"/>
              </a:rPr>
              <a:t>Dubai Health</a:t>
            </a:r>
          </a:p>
        </p:txBody>
      </p:sp>
      <p:sp>
        <p:nvSpPr>
          <p:cNvPr id="5" name="Disclaimer"/>
          <p:cNvSpPr/>
          <p:nvPr/>
        </p:nvSpPr>
        <p:spPr>
          <a:xfrm>
            <a:off x="457200" y="609600"/>
            <a:ext cx="8229600" cy="330000"/>
          </a:xfrm>
          <a:prstGeom prst="rect">
            <a:avLst/>
          </a:prstGeom>
          <a:solidFill>
            <a:srgbClr val="FFF3CD"/>
          </a:solidFill>
          <a:ln w="12700">
            <a:solidFill>
              <a:srgbClr val="E6A817"/>
            </a:solidFill>
          </a:ln>
        </p:spPr>
        <p:txBody>
          <a:bodyPr wrap="square" lIns="91440" tIns="45720" rIns="91440" bIns="45720" anchor="ctr"/>
          <a:lstStyle/>
          <a:p>
            <a:r>
              <a:rPr lang="en-US" sz="1100" b="1" i="0">
                <a:solidFill>
                  <a:srgbClr val="7D5A00"/>
                </a:solidFill>
                <a:latin typeface="Calibri"/>
              </a:rPr>
              <a:t>⚠ Note: Analysis performed on an intentionally vulnerable open-source ASP.NET Core demo project. This is NOT Dubai Health code. Shown to demonstrate CodeAnt detection capabilities on a C# codebase similar to Dubai Health technology stack.</a:t>
            </a:r>
          </a:p>
        </p:txBody>
      </p:sp>
      <p:sp>
        <p:nvSpPr>
          <p:cNvPr id="6" name="SecurityBox"/>
          <p:cNvSpPr/>
          <p:nvPr/>
        </p:nvSpPr>
        <p:spPr>
          <a:xfrm>
            <a:off x="457200" y="990600"/>
            <a:ext cx="3962400" cy="3657600"/>
          </a:xfrm>
          <a:prstGeom prst="rect">
            <a:avLst/>
          </a:prstGeom>
          <a:solidFill>
            <a:srgbClr val="F8F9FA"/>
          </a:solidFill>
          <a:ln w="12700">
            <a:solidFill>
              <a:srgbClr val="DC3545"/>
            </a:solidFill>
          </a:ln>
        </p:spPr>
        <p:txBody>
          <a:bodyPr wrap="square" lIns="91440" tIns="91440" rIns="91440" bIns="91440" anchor="t"/>
          <a:lstStyle/>
          <a:p>
            <a:r>
              <a:rPr lang="en-US" sz="1400" b="1" i="0">
                <a:solidFill>
                  <a:srgbClr val="DC3545"/>
                </a:solidFill>
                <a:latin typeface="Calibri"/>
              </a:rPr>
              <a:t>🛡 Security Findings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100" b="1">
                <a:solidFill>
                  <a:srgbClr val="DC3545"/>
                </a:solidFill>
                <a:latin typeface="Calibri"/>
              </a:rPr>
              <a:t>5 SQL Injection</a:t>
            </a:r>
            <a:r>
              <a:rPr lang="en-US" sz="1100" b="0">
                <a:solidFill>
                  <a:srgbClr val="333333"/>
                </a:solidFill>
                <a:latin typeface="Calibri"/>
              </a:rPr>
              <a:t xml:space="preserve">  HIGH | CWE-89 | OWASP A03:2021</a:t>
            </a:r>
          </a:p>
          <a:p>
            <a:r>
              <a:rPr lang="en-US" sz="1100" b="1">
                <a:solidFill>
                  <a:srgbClr val="DC3545"/>
                </a:solidFill>
                <a:latin typeface="Calibri"/>
              </a:rPr>
              <a:t>5 Sensitive Data Exposure</a:t>
            </a:r>
            <a:r>
              <a:rPr lang="en-US" sz="1100" b="0">
                <a:solidFill>
                  <a:srgbClr val="333333"/>
                </a:solidFill>
                <a:latin typeface="Calibri"/>
              </a:rPr>
              <a:t xml:space="preserve">  HIGH | EPSS 91.51%</a:t>
            </a:r>
          </a:p>
          <a:p>
            <a:r>
              <a:rPr lang="en-US" sz="1100" b="1">
                <a:solidFill>
                  <a:srgbClr val="E67E22"/>
                </a:solidFill>
                <a:latin typeface="Calibri"/>
              </a:rPr>
              <a:t>2 CSRF Vulnerabilities</a:t>
            </a:r>
            <a:r>
              <a:rPr lang="en-US" sz="1100" b="0">
                <a:solidFill>
                  <a:srgbClr val="333333"/>
                </a:solidFill>
                <a:latin typeface="Calibri"/>
              </a:rPr>
              <a:t xml:space="preserve">  MEDIUM | CWE-352</a:t>
            </a:r>
          </a:p>
          <a:p>
            <a:r>
              <a:rPr lang="en-US" sz="1100" b="1">
                <a:solidFill>
                  <a:srgbClr val="E67E22"/>
                </a:solidFill>
                <a:latin typeface="Calibri"/>
              </a:rPr>
              <a:t>1 Missing Authorization</a:t>
            </a:r>
            <a:r>
              <a:rPr lang="en-US" sz="1100" b="0">
                <a:solidFill>
                  <a:srgbClr val="333333"/>
                </a:solidFill>
                <a:latin typeface="Calibri"/>
              </a:rPr>
              <a:t xml:space="preserve">  MEDIUM | CWE-862</a:t>
            </a:r>
          </a:p>
          <a:p>
            <a:r>
              <a:rPr lang="en-US" sz="1100" b="1">
                <a:solidFill>
                  <a:srgbClr val="DC3545"/>
                </a:solidFill>
                <a:latin typeface="Calibri"/>
              </a:rPr>
              <a:t>7 Hardcoded Secrets</a:t>
            </a:r>
            <a:r>
              <a:rPr lang="en-US" sz="1100" b="0">
                <a:solidFill>
                  <a:srgbClr val="333333"/>
                </a:solidFill>
                <a:latin typeface="Calibri"/>
              </a:rPr>
              <a:t xml:space="preserve">  DB passwords, API keys, JWT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400" b="1">
                <a:solidFill>
                  <a:srgbClr val="DC3545"/>
                </a:solidFill>
                <a:latin typeface="Calibri"/>
              </a:rPr>
              <a:t>📦 Supply Chain Risk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100" b="1">
                <a:solidFill>
                  <a:srgbClr val="DC3545"/>
                </a:solidFill>
                <a:latin typeface="Calibri"/>
              </a:rPr>
              <a:t>CVE-2021-26701</a:t>
            </a:r>
            <a:r>
              <a:rPr lang="en-US" sz="1100" b="0">
                <a:solidFill>
                  <a:srgbClr val="333333"/>
                </a:solidFill>
                <a:latin typeface="Calibri"/>
              </a:rPr>
              <a:t xml:space="preserve">  CVSS 9.8 | Remote Code Execution</a:t>
            </a:r>
          </a:p>
          <a:p>
            <a:r>
              <a:rPr lang="en-US" sz="1100" b="1">
                <a:solidFill>
                  <a:srgbClr val="DC3545"/>
                </a:solidFill>
                <a:latin typeface="Calibri"/>
              </a:rPr>
              <a:t>log4net XXE</a:t>
            </a:r>
            <a:r>
              <a:rPr lang="en-US" sz="1100" b="0">
                <a:solidFill>
                  <a:srgbClr val="333333"/>
                </a:solidFill>
                <a:latin typeface="Calibri"/>
              </a:rPr>
              <a:t xml:space="preserve">  CVSS 9.8 | Critical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400" b="1">
                <a:solidFill>
                  <a:srgbClr val="E67E22"/>
                </a:solidFill>
                <a:latin typeface="Calibri"/>
              </a:rPr>
              <a:t>⚙ Infrastructure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100" b="1">
                <a:solidFill>
                  <a:srgbClr val="E67E22"/>
                </a:solidFill>
                <a:latin typeface="Calibri"/>
              </a:rPr>
              <a:t>3 CI/CD Shell Injection Risks</a:t>
            </a:r>
            <a:r>
              <a:rPr lang="en-US" sz="1100" b="0">
                <a:solidFill>
                  <a:srgbClr val="333333"/>
                </a:solidFill>
                <a:latin typeface="Calibri"/>
              </a:rPr>
              <a:t xml:space="preserve">  GitHub Actions pipeline</a:t>
            </a:r>
          </a:p>
        </p:txBody>
      </p:sp>
      <p:sp>
        <p:nvSpPr>
          <p:cNvPr id="7" name="StatsBox"/>
          <p:cNvSpPr/>
          <p:nvPr/>
        </p:nvSpPr>
        <p:spPr>
          <a:xfrm>
            <a:off x="4572000" y="990600"/>
            <a:ext cx="4114800" cy="3657600"/>
          </a:xfrm>
          <a:prstGeom prst="rect">
            <a:avLst/>
          </a:prstGeom>
          <a:solidFill>
            <a:srgbClr val="F8F9FA"/>
          </a:solidFill>
          <a:ln w="12700">
            <a:solidFill>
              <a:srgbClr val="00567D"/>
            </a:solidFill>
          </a:ln>
        </p:spPr>
        <p:txBody>
          <a:bodyPr wrap="square" lIns="91440" tIns="91440" rIns="91440" bIns="91440" anchor="t"/>
          <a:lstStyle/>
          <a:p>
            <a:r>
              <a:rPr lang="en-US" sz="1400" b="1">
                <a:solidFill>
                  <a:srgbClr val="00567D"/>
                </a:solidFill>
                <a:latin typeface="Calibri"/>
              </a:rPr>
              <a:t>📊 Scan Summary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100" b="1">
                <a:solidFill>
                  <a:srgbClr val="333333"/>
                </a:solidFill>
                <a:latin typeface="Calibri"/>
              </a:rPr>
              <a:t>Lines Analyzed:</a:t>
            </a:r>
            <a:r>
              <a:rPr lang="en-US" sz="1100" b="0">
                <a:solidFill>
                  <a:srgbClr val="333333"/>
                </a:solidFill>
                <a:latin typeface="Calibri"/>
              </a:rPr>
              <a:t xml:space="preserve">  1,097 lines of C#</a:t>
            </a:r>
          </a:p>
          <a:p>
            <a:r>
              <a:rPr lang="en-US" sz="1100" b="1">
                <a:solidFill>
                  <a:srgbClr val="333333"/>
                </a:solidFill>
                <a:latin typeface="Calibri"/>
              </a:rPr>
              <a:t>Scan Time:</a:t>
            </a:r>
            <a:r>
              <a:rPr lang="en-US" sz="1100" b="0">
                <a:solidFill>
                  <a:srgbClr val="333333"/>
                </a:solidFill>
                <a:latin typeface="Calibri"/>
              </a:rPr>
              <a:t xml:space="preserve">  Under 3 minutes</a:t>
            </a:r>
          </a:p>
          <a:p>
            <a:r>
              <a:rPr lang="en-US" sz="1100" b="1">
                <a:solidFill>
                  <a:srgbClr val="333333"/>
                </a:solidFill>
                <a:latin typeface="Calibri"/>
              </a:rPr>
              <a:t>Total Issues Found:</a:t>
            </a:r>
            <a:r>
              <a:rPr lang="en-US" sz="1100" b="0">
                <a:solidFill>
                  <a:srgbClr val="333333"/>
                </a:solidFill>
                <a:latin typeface="Calibri"/>
              </a:rPr>
              <a:t xml:space="preserve">  22 potential issues</a:t>
            </a:r>
          </a:p>
          <a:p>
            <a:r>
              <a:rPr lang="en-US" sz="1100" b="1">
                <a:solidFill>
                  <a:srgbClr val="27AE60"/>
                </a:solidFill>
                <a:latin typeface="Calibri"/>
              </a:rPr>
              <a:t>False Positives Removed:</a:t>
            </a:r>
            <a:r>
              <a:rPr lang="en-US" sz="1100" b="0">
                <a:solidFill>
                  <a:srgbClr val="333333"/>
                </a:solidFill>
                <a:latin typeface="Calibri"/>
              </a:rPr>
              <a:t xml:space="preserve">  6 (with reasoning)</a:t>
            </a:r>
          </a:p>
          <a:p>
            <a:r>
              <a:rPr lang="en-US" sz="1100" b="1">
                <a:solidFill>
                  <a:srgbClr val="DC3545"/>
                </a:solidFill>
                <a:latin typeface="Calibri"/>
              </a:rPr>
              <a:t>Confirmed Issues:</a:t>
            </a:r>
            <a:r>
              <a:rPr lang="en-US" sz="1100" b="0">
                <a:solidFill>
                  <a:srgbClr val="333333"/>
                </a:solidFill>
                <a:latin typeface="Calibri"/>
              </a:rPr>
              <a:t xml:space="preserve">  16 actionable findings</a:t>
            </a:r>
          </a:p>
          <a:p>
            <a:r>
              <a:rPr lang="en-US" sz="1100" b="1">
                <a:solidFill>
                  <a:srgbClr val="27AE60"/>
                </a:solidFill>
                <a:latin typeface="Calibri"/>
              </a:rPr>
              <a:t>Signal Ratio:</a:t>
            </a:r>
            <a:r>
              <a:rPr lang="en-US" sz="1100" b="0">
                <a:solidFill>
                  <a:srgbClr val="333333"/>
                </a:solidFill>
                <a:latin typeface="Calibri"/>
              </a:rPr>
              <a:t xml:space="preserve">  73% real issues surfaced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400" b="1">
                <a:solidFill>
                  <a:srgbClr val="00567D"/>
                </a:solidFill>
                <a:latin typeface="Calibri"/>
              </a:rPr>
              <a:t>🧠 AI Noise Reduction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Each dismissed finding includes transparent AI reasoning explaining why it was filtered. No silent suppression.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100" b="1">
                <a:solidFill>
                  <a:srgbClr val="00567D"/>
                </a:solidFill>
                <a:latin typeface="Calibri"/>
              </a:rPr>
              <a:t>Code Quality:</a:t>
            </a:r>
            <a:r>
              <a:rPr lang="en-US" sz="1100" b="0">
                <a:solidFill>
                  <a:srgbClr val="333333"/>
                </a:solidFill>
                <a:latin typeface="Calibri"/>
              </a:rPr>
              <a:t xml:space="preserve">  12 antipatterns detected</a:t>
            </a:r>
          </a:p>
          <a:p>
            <a:r>
              <a:rPr lang="en-US" sz="1100" b="1">
                <a:solidFill>
                  <a:srgbClr val="00567D"/>
                </a:solidFill>
                <a:latin typeface="Calibri"/>
              </a:rPr>
              <a:t>Packages Scanned:</a:t>
            </a:r>
            <a:r>
              <a:rPr lang="en-US" sz="1100" b="0">
                <a:solidFill>
                  <a:srgbClr val="333333"/>
                </a:solidFill>
                <a:latin typeface="Calibri"/>
              </a:rPr>
              <a:t xml:space="preserve">  8 NuGet packages analyzed</a:t>
            </a:r>
          </a:p>
        </p:txBody>
      </p:sp>
      <p:sp>
        <p:nvSpPr>
          <p:cNvPr id="8" name="Footer"/>
          <p:cNvSpPr/>
          <p:nvPr/>
        </p:nvSpPr>
        <p:spPr>
          <a:xfrm>
            <a:off x="0" y="4877040"/>
            <a:ext cx="9144000" cy="266460"/>
          </a:xfrm>
          <a:prstGeom prst="rect">
            <a:avLst/>
          </a:prstGeom>
          <a:solidFill>
            <a:srgbClr val="00567D"/>
          </a:solidFill>
          <a:ln>
            <a:solidFill>
              <a:srgbClr val="00567D"/>
            </a:solidFill>
          </a:ln>
        </p:spPr>
        <p:txBody>
          <a:bodyPr wrap="square" anchor="ctr"/>
          <a:lstStyle/>
          <a:p>
            <a:pPr algn="r"/>
            <a:r>
              <a:rPr lang="en-US" sz="900" b="0">
                <a:solidFill>
                  <a:srgbClr val="FFFFFF"/>
                </a:solidFill>
                <a:latin typeface="Calibri"/>
              </a:rPr>
              <a:t>Dubai Health — Internal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567D"/>
          </a:solidFill>
          <a:ln>
            <a:solidFill>
              <a:srgbClr val="00567D"/>
            </a:solidFill>
          </a:ln>
        </p:spPr>
        <p:txBody>
          <a:bodyPr wrap="square" anchor="ctr"/>
          <a:lstStyle/>
          <a:p>
            <a:endParaRPr/>
          </a:p>
        </p:txBody>
      </p:sp>
      <p:sp>
        <p:nvSpPr>
          <p:cNvPr id="3" name="Title"/>
          <p:cNvSpPr/>
          <p:nvPr/>
        </p:nvSpPr>
        <p:spPr>
          <a:xfrm>
            <a:off x="457200" y="9144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2200" b="1">
                <a:solidFill>
                  <a:srgbClr val="FFFFFF"/>
                </a:solidFill>
                <a:latin typeface="Calibri"/>
              </a:rPr>
              <a:t>Understanding EPSS Score</a:t>
            </a:r>
          </a:p>
        </p:txBody>
      </p:sp>
      <p:sp>
        <p:nvSpPr>
          <p:cNvPr id="4" name="DH"/>
          <p:cNvSpPr/>
          <p:nvPr/>
        </p:nvSpPr>
        <p:spPr>
          <a:xfrm>
            <a:off x="7620000" y="914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r"/>
            <a:r>
              <a:rPr lang="en-US" sz="1400" b="1">
                <a:solidFill>
                  <a:srgbClr val="FFFFFF"/>
                </a:solidFill>
                <a:latin typeface="Calibri"/>
              </a:rPr>
              <a:t>Dubai Health</a:t>
            </a:r>
          </a:p>
        </p:txBody>
      </p:sp>
      <p:sp>
        <p:nvSpPr>
          <p:cNvPr id="5" name="Definition"/>
          <p:cNvSpPr/>
          <p:nvPr/>
        </p:nvSpPr>
        <p:spPr>
          <a:xfrm>
            <a:off x="457200" y="609600"/>
            <a:ext cx="8229600" cy="685800"/>
          </a:xfrm>
          <a:prstGeom prst="rect">
            <a:avLst/>
          </a:prstGeom>
          <a:solidFill>
            <a:srgbClr val="EBF5FB"/>
          </a:solidFill>
          <a:ln w="12700">
            <a:solidFill>
              <a:srgbClr val="00567D"/>
            </a:solidFill>
          </a:ln>
        </p:spPr>
        <p:txBody>
          <a:bodyPr wrap="square" lIns="91440" tIns="91440" rIns="91440" bIns="91440" anchor="ctr"/>
          <a:lstStyle/>
          <a:p>
            <a:r>
              <a:rPr lang="en-US" sz="1600" b="1">
                <a:solidFill>
                  <a:srgbClr val="00567D"/>
                </a:solidFill>
                <a:latin typeface="Calibri"/>
              </a:rPr>
              <a:t>EPSS = Exploit Prediction Scoring System</a:t>
            </a:r>
          </a:p>
          <a:p>
            <a:r>
              <a:rPr lang="en-US" sz="1300" b="0">
                <a:solidFill>
                  <a:srgbClr val="333333"/>
                </a:solidFill>
                <a:latin typeface="Calibri"/>
              </a:rPr>
              <a:t>The probability that a specific vulnerability will be actively exploited in the wild within the next 30 days. Published daily by FIRST.org using machine learning on real-world threat intelligence data.</a:t>
            </a:r>
          </a:p>
        </p:txBody>
      </p:sp>
      <p:sp>
        <p:nvSpPr>
          <p:cNvPr id="6" name="BigNumber"/>
          <p:cNvSpPr/>
          <p:nvPr/>
        </p:nvSpPr>
        <p:spPr>
          <a:xfrm>
            <a:off x="457200" y="1371600"/>
            <a:ext cx="2743200" cy="2743200"/>
          </a:xfrm>
          <a:prstGeom prst="ellipse">
            <a:avLst/>
          </a:prstGeom>
          <a:solidFill>
            <a:srgbClr val="DC3545"/>
          </a:solidFill>
          <a:ln>
            <a:solidFill>
              <a:srgbClr val="DC3545"/>
            </a:solidFill>
          </a:ln>
        </p:spPr>
        <p:txBody>
          <a:bodyPr wrap="square" anchor="ctr"/>
          <a:lstStyle/>
          <a:p>
            <a:pPr algn="ctr"/>
            <a:r>
              <a:rPr lang="en-US" sz="5400" b="1">
                <a:solidFill>
                  <a:srgbClr val="FFFFFF"/>
                </a:solidFill>
                <a:latin typeface="Calibri"/>
              </a:rPr>
              <a:t>91.51%</a:t>
            </a:r>
          </a:p>
          <a:p>
            <a:pPr algn="ctr"/>
            <a:r>
              <a:rPr lang="en-US" sz="1300" b="0">
                <a:solidFill>
                  <a:srgbClr val="FFFFFF"/>
                </a:solidFill>
                <a:latin typeface="Calibri"/>
              </a:rPr>
              <a:t>EPSS Score</a:t>
            </a:r>
          </a:p>
        </p:txBody>
      </p:sp>
      <p:sp>
        <p:nvSpPr>
          <p:cNvPr id="7" name="Explanation"/>
          <p:cNvSpPr/>
          <p:nvPr/>
        </p:nvSpPr>
        <p:spPr>
          <a:xfrm>
            <a:off x="3352800" y="1371600"/>
            <a:ext cx="5334000" cy="2743200"/>
          </a:xfrm>
          <a:prstGeom prst="rect">
            <a:avLst/>
          </a:prstGeom>
          <a:solidFill>
            <a:srgbClr val="F8F9FA"/>
          </a:solidFill>
          <a:ln w="12700">
            <a:solidFill>
              <a:srgbClr val="DC3545"/>
            </a:solidFill>
          </a:ln>
        </p:spPr>
        <p:txBody>
          <a:bodyPr wrap="square" lIns="91440" tIns="91440" rIns="91440" bIns="91440" anchor="t"/>
          <a:lstStyle/>
          <a:p>
            <a:r>
              <a:rPr lang="en-US" sz="1400" b="1">
                <a:solidFill>
                  <a:srgbClr val="DC3545"/>
                </a:solidFill>
                <a:latin typeface="Calibri"/>
              </a:rPr>
              <a:t>Finding: Sensitive Data Exposure</a:t>
            </a:r>
          </a:p>
          <a:p>
            <a:r>
              <a:rPr lang="en-US" sz="1200" b="0">
                <a:solidFill>
                  <a:srgbClr val="333333"/>
                </a:solidFill>
                <a:latin typeface="Calibri"/>
              </a:rPr>
              <a:t>API endpoint returning raw database entity without DTO mapping — exposing internal fields to API consumers.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300" b="1">
                <a:solidFill>
                  <a:srgbClr val="DC3545"/>
                </a:solidFill>
                <a:latin typeface="Calibri"/>
              </a:rPr>
              <a:t>What 91.51% means:</a:t>
            </a:r>
          </a:p>
          <a:p>
            <a:r>
              <a:rPr lang="en-US" sz="1200" b="0">
                <a:solidFill>
                  <a:srgbClr val="333333"/>
                </a:solidFill>
                <a:latin typeface="Calibri"/>
              </a:rPr>
              <a:t>91.51% of similar vulnerabilities found in other organizations have been actively exploited by attackers within 30 days.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300" b="1">
                <a:solidFill>
                  <a:srgbClr val="00567D"/>
                </a:solidFill>
                <a:latin typeface="Calibri"/>
              </a:rPr>
              <a:t>CodeAnt doesn’t just find vulnerabilities.</a:t>
            </a:r>
          </a:p>
          <a:p>
            <a:r>
              <a:rPr lang="en-US" sz="1300" b="0">
                <a:solidFill>
                  <a:srgbClr val="333333"/>
                </a:solidFill>
                <a:latin typeface="Calibri"/>
              </a:rPr>
              <a:t>It tells you which ones attackers are actively targeting right now — so you prioritize the right fixes first.</a:t>
            </a:r>
          </a:p>
        </p:txBody>
      </p:sp>
      <p:sp>
        <p:nvSpPr>
          <p:cNvPr id="8" name="Footer"/>
          <p:cNvSpPr/>
          <p:nvPr/>
        </p:nvSpPr>
        <p:spPr>
          <a:xfrm>
            <a:off x="0" y="4877040"/>
            <a:ext cx="9144000" cy="266460"/>
          </a:xfrm>
          <a:prstGeom prst="rect">
            <a:avLst/>
          </a:prstGeom>
          <a:solidFill>
            <a:srgbClr val="00567D"/>
          </a:solidFill>
          <a:ln>
            <a:solidFill>
              <a:srgbClr val="00567D"/>
            </a:solidFill>
          </a:ln>
        </p:spPr>
        <p:txBody>
          <a:bodyPr wrap="square" anchor="ctr"/>
          <a:lstStyle/>
          <a:p>
            <a:pPr algn="r"/>
            <a:r>
              <a:rPr lang="en-US" sz="900" b="0">
                <a:solidFill>
                  <a:srgbClr val="FFFFFF"/>
                </a:solidFill>
                <a:latin typeface="Calibri"/>
              </a:rPr>
              <a:t>Dubai Health — Internal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567D"/>
          </a:solidFill>
          <a:ln>
            <a:solidFill>
              <a:srgbClr val="00567D"/>
            </a:solidFill>
          </a:ln>
        </p:spPr>
        <p:txBody>
          <a:bodyPr wrap="square" anchor="ctr"/>
          <a:lstStyle/>
          <a:p>
            <a:endParaRPr/>
          </a:p>
        </p:txBody>
      </p:sp>
      <p:sp>
        <p:nvSpPr>
          <p:cNvPr id="3" name="Title"/>
          <p:cNvSpPr/>
          <p:nvPr/>
        </p:nvSpPr>
        <p:spPr>
          <a:xfrm>
            <a:off x="457200" y="9144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2200" b="1">
                <a:solidFill>
                  <a:srgbClr val="FFFFFF"/>
                </a:solidFill>
                <a:latin typeface="Calibri"/>
              </a:rPr>
              <a:t>Custom AI Rules — Tailored for Dubai Health</a:t>
            </a:r>
          </a:p>
        </p:txBody>
      </p:sp>
      <p:sp>
        <p:nvSpPr>
          <p:cNvPr id="4" name="DH"/>
          <p:cNvSpPr/>
          <p:nvPr/>
        </p:nvSpPr>
        <p:spPr>
          <a:xfrm>
            <a:off x="7620000" y="914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r"/>
            <a:r>
              <a:rPr lang="en-US" sz="1400" b="1">
                <a:solidFill>
                  <a:srgbClr val="FFFFFF"/>
                </a:solidFill>
                <a:latin typeface="Calibri"/>
              </a:rPr>
              <a:t>Dubai Health</a:t>
            </a:r>
          </a:p>
        </p:txBody>
      </p:sp>
      <p:sp>
        <p:nvSpPr>
          <p:cNvPr id="5" name="Sub"/>
          <p:cNvSpPr/>
          <p:nvPr/>
        </p:nvSpPr>
        <p:spPr>
          <a:xfrm>
            <a:off x="457200" y="609600"/>
            <a:ext cx="8229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1200" b="0" i="1">
                <a:solidFill>
                  <a:srgbClr val="666666"/>
                </a:solidFill>
                <a:latin typeface="Calibri"/>
              </a:rPr>
              <a:t>These rules apply automatically to every pull request — no developer needs to remember them. Every PR is reviewed against Dubai Health standards.</a:t>
            </a:r>
          </a:p>
        </p:txBody>
      </p:sp>
      <p:sp>
        <p:nvSpPr>
          <p:cNvPr id="6" name="SecurityRules"/>
          <p:cNvSpPr/>
          <p:nvPr/>
        </p:nvSpPr>
        <p:spPr>
          <a:xfrm>
            <a:off x="457200" y="990600"/>
            <a:ext cx="3962400" cy="3657600"/>
          </a:xfrm>
          <a:prstGeom prst="rect">
            <a:avLst/>
          </a:prstGeom>
          <a:solidFill>
            <a:srgbClr val="FEF9E7"/>
          </a:solidFill>
          <a:ln w="12700">
            <a:solidFill>
              <a:srgbClr val="DC3545"/>
            </a:solidFill>
          </a:ln>
        </p:spPr>
        <p:txBody>
          <a:bodyPr wrap="square" lIns="91440" tIns="91440" rIns="91440" bIns="91440" anchor="t"/>
          <a:lstStyle/>
          <a:p>
            <a:r>
              <a:rPr lang="en-US" sz="1400" b="1">
                <a:solidFill>
                  <a:srgbClr val="DC3545"/>
                </a:solidFill>
                <a:latin typeface="Calibri"/>
              </a:rPr>
              <a:t>🛡 Security Rules</a:t>
            </a:r>
          </a:p>
          <a:p>
            <a:r>
              <a:rPr lang="en-US" sz="105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• Flag any endpoint returning patient data without [Authorize] attribute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• Flag state-changing endpoints missing antiforgery token validation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• Flag any endpoint returning full exception messages to end users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• Flag hardcoded credentials in configuration files or source code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• Flag SQL queries built using string concatenation with user input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• Flag API responses returning raw database entities without DTO mapping</a:t>
            </a:r>
          </a:p>
        </p:txBody>
      </p:sp>
      <p:sp>
        <p:nvSpPr>
          <p:cNvPr id="7" name="PerfRules"/>
          <p:cNvSpPr/>
          <p:nvPr/>
        </p:nvSpPr>
        <p:spPr>
          <a:xfrm>
            <a:off x="4572000" y="990600"/>
            <a:ext cx="4114800" cy="3657600"/>
          </a:xfrm>
          <a:prstGeom prst="rect">
            <a:avLst/>
          </a:prstGeom>
          <a:solidFill>
            <a:srgbClr val="EBF5FB"/>
          </a:solidFill>
          <a:ln w="12700">
            <a:solidFill>
              <a:srgbClr val="00567D"/>
            </a:solidFill>
          </a:ln>
        </p:spPr>
        <p:txBody>
          <a:bodyPr wrap="square" lIns="91440" tIns="91440" rIns="91440" bIns="91440" anchor="t"/>
          <a:lstStyle/>
          <a:p>
            <a:r>
              <a:rPr lang="en-US" sz="1400" b="1">
                <a:solidFill>
                  <a:srgbClr val="00567D"/>
                </a:solidFill>
                <a:latin typeface="Calibri"/>
              </a:rPr>
              <a:t>⚡ Performance Rules</a:t>
            </a:r>
          </a:p>
          <a:p>
            <a:r>
              <a:rPr lang="en-US" sz="105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• Flag database queries executing inside loops (N+1 pattern)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• Flag synchronous blocking calls in async ASP.NET Core controllers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• Flag API endpoints returning unbounded datasets without pagination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• Flag deprecated WebClient usage instead of HttpClient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• Flag missing CancellationToken on long-running operations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• Flag methods with multiple sequential database round trips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• Flag SELECT * queries without WHERE clause or row limit</a:t>
            </a:r>
          </a:p>
        </p:txBody>
      </p:sp>
      <p:sp>
        <p:nvSpPr>
          <p:cNvPr id="8" name="Footer"/>
          <p:cNvSpPr/>
          <p:nvPr/>
        </p:nvSpPr>
        <p:spPr>
          <a:xfrm>
            <a:off x="0" y="4877040"/>
            <a:ext cx="9144000" cy="266460"/>
          </a:xfrm>
          <a:prstGeom prst="rect">
            <a:avLst/>
          </a:prstGeom>
          <a:solidFill>
            <a:srgbClr val="00567D"/>
          </a:solidFill>
          <a:ln>
            <a:solidFill>
              <a:srgbClr val="00567D"/>
            </a:solidFill>
          </a:ln>
        </p:spPr>
        <p:txBody>
          <a:bodyPr wrap="square" anchor="ctr"/>
          <a:lstStyle/>
          <a:p>
            <a:pPr algn="r"/>
            <a:r>
              <a:rPr lang="en-US" sz="900" b="0">
                <a:solidFill>
                  <a:srgbClr val="FFFFFF"/>
                </a:solidFill>
                <a:latin typeface="Calibri"/>
              </a:rPr>
              <a:t>Dubai Health — Internal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67D"/>
        </a:solidFill>
        <a:effectLst/>
      </p:bgPr>
    </p:bg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Label"/>
          <p:cNvSpPr/>
          <p:nvPr/>
        </p:nvSpPr>
        <p:spPr>
          <a:xfrm>
            <a:off x="7315200" y="182880"/>
            <a:ext cx="16764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r"/>
            <a:r>
              <a:rPr lang="en-US" sz="1400" b="1">
                <a:solidFill>
                  <a:srgbClr val="FFFFFF"/>
                </a:solidFill>
                <a:latin typeface="Calibri"/>
              </a:rPr>
              <a:t>CodeAnt AI</a:t>
            </a:r>
          </a:p>
        </p:txBody>
      </p:sp>
      <p:sp>
        <p:nvSpPr>
          <p:cNvPr id="3" name="Headline"/>
          <p:cNvSpPr/>
          <p:nvPr/>
        </p:nvSpPr>
        <p:spPr>
          <a:xfrm>
            <a:off x="457200" y="3048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4000" b="1">
                <a:solidFill>
                  <a:srgbClr val="FFFFFF"/>
                </a:solidFill>
                <a:latin typeface="Calibri"/>
              </a:rPr>
              <a:t>Reduce code review time by up to 50%</a:t>
            </a:r>
          </a:p>
        </p:txBody>
      </p:sp>
      <p:sp>
        <p:nvSpPr>
          <p:cNvPr id="4" name="Before"/>
          <p:cNvSpPr/>
          <p:nvPr/>
        </p:nvSpPr>
        <p:spPr>
          <a:xfrm>
            <a:off x="457200" y="1371600"/>
            <a:ext cx="3962400" cy="2895600"/>
          </a:xfrm>
          <a:prstGeom prst="rect">
            <a:avLst/>
          </a:prstGeom>
          <a:solidFill>
            <a:srgbClr val="DC3545"/>
          </a:solidFill>
          <a:ln>
            <a:solidFill>
              <a:srgbClr val="DC3545"/>
            </a:solidFill>
          </a:ln>
        </p:spPr>
        <p:txBody>
          <a:bodyPr wrap="square" lIns="91440" tIns="91440" rIns="91440" bIns="91440" anchor="t"/>
          <a:lstStyle/>
          <a:p>
            <a:r>
              <a:rPr lang="en-US" sz="1600" b="1">
                <a:solidFill>
                  <a:srgbClr val="FFFFFF"/>
                </a:solidFill>
                <a:latin typeface="Calibri"/>
              </a:rPr>
              <a:t>Before CodeAnt</a:t>
            </a:r>
          </a:p>
          <a:p>
            <a:r>
              <a:rPr lang="en-US" sz="1100" b="0">
                <a:solidFill>
                  <a:srgbClr val="FFFFFF"/>
                </a:solidFill>
                <a:latin typeface="Calibri"/>
              </a:rPr>
              <a:t/>
            </a:r>
          </a:p>
          <a:p>
            <a:r>
              <a:rPr lang="en-US" sz="1200" b="0">
                <a:solidFill>
                  <a:srgbClr val="FFFFFF"/>
                </a:solidFill>
                <a:latin typeface="Calibri"/>
              </a:rPr>
              <a:t>• Senior developer reviews every PR manually</a:t>
            </a:r>
          </a:p>
          <a:p>
            <a:r>
              <a:rPr lang="en-US" sz="1200" b="0">
                <a:solidFill>
                  <a:srgbClr val="FFFFFF"/>
                </a:solidFill>
                <a:latin typeface="Calibri"/>
              </a:rPr>
              <a:t>• Average review: 45 - 90 minutes per PR</a:t>
            </a:r>
          </a:p>
          <a:p>
            <a:r>
              <a:rPr lang="en-US" sz="1200" b="0">
                <a:solidFill>
                  <a:srgbClr val="FFFFFF"/>
                </a:solidFill>
                <a:latin typeface="Calibri"/>
              </a:rPr>
              <a:t>• Security issues caught after merge — expensive to fix</a:t>
            </a:r>
          </a:p>
          <a:p>
            <a:r>
              <a:rPr lang="en-US" sz="1200" b="0">
                <a:solidFill>
                  <a:srgbClr val="FFFFFF"/>
                </a:solidFill>
                <a:latin typeface="Calibri"/>
              </a:rPr>
              <a:t>• No enforcement — depends on reviewer knowledge</a:t>
            </a:r>
          </a:p>
          <a:p>
            <a:r>
              <a:rPr lang="en-US" sz="1200" b="0">
                <a:solidFill>
                  <a:srgbClr val="FFFFFF"/>
                </a:solidFill>
                <a:latin typeface="Calibri"/>
              </a:rPr>
              <a:t>• Inconsistent standards across the team</a:t>
            </a:r>
          </a:p>
        </p:txBody>
      </p:sp>
      <p:sp>
        <p:nvSpPr>
          <p:cNvPr id="5" name="Arrow"/>
          <p:cNvSpPr/>
          <p:nvPr/>
        </p:nvSpPr>
        <p:spPr>
          <a:xfrm>
            <a:off x="4495800" y="2590800"/>
            <a:ext cx="457200" cy="457200"/>
          </a:xfrm>
          <a:prstGeom prst="rightArrow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After"/>
          <p:cNvSpPr/>
          <p:nvPr/>
        </p:nvSpPr>
        <p:spPr>
          <a:xfrm>
            <a:off x="5029200" y="1371600"/>
            <a:ext cx="3657600" cy="2895600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txBody>
          <a:bodyPr wrap="square" lIns="91440" tIns="91440" rIns="91440" bIns="91440" anchor="t"/>
          <a:lstStyle/>
          <a:p>
            <a:r>
              <a:rPr lang="en-US" sz="1600" b="1">
                <a:solidFill>
                  <a:srgbClr val="FFFFFF"/>
                </a:solidFill>
                <a:latin typeface="Calibri"/>
              </a:rPr>
              <a:t>After CodeAnt</a:t>
            </a:r>
          </a:p>
          <a:p>
            <a:r>
              <a:rPr lang="en-US" sz="1100" b="0">
                <a:solidFill>
                  <a:srgbClr val="FFFFFF"/>
                </a:solidFill>
                <a:latin typeface="Calibri"/>
              </a:rPr>
              <a:t/>
            </a:r>
          </a:p>
          <a:p>
            <a:r>
              <a:rPr lang="en-US" sz="1200" b="0">
                <a:solidFill>
                  <a:srgbClr val="FFFFFF"/>
                </a:solidFill>
                <a:latin typeface="Calibri"/>
              </a:rPr>
              <a:t>• AI reviews every PR in 2 - 3 minutes automatically</a:t>
            </a:r>
          </a:p>
          <a:p>
            <a:r>
              <a:rPr lang="en-US" sz="1200" b="0">
                <a:solidFill>
                  <a:srgbClr val="FFFFFF"/>
                </a:solidFill>
                <a:latin typeface="Calibri"/>
              </a:rPr>
              <a:t>• Senior developers focus only on flagged critical issues</a:t>
            </a:r>
          </a:p>
          <a:p>
            <a:r>
              <a:rPr lang="en-US" sz="1200" b="0">
                <a:solidFill>
                  <a:srgbClr val="FFFFFF"/>
                </a:solidFill>
                <a:latin typeface="Calibri"/>
              </a:rPr>
              <a:t>• Security issues blocked before merge — cheap to fix</a:t>
            </a:r>
          </a:p>
          <a:p>
            <a:r>
              <a:rPr lang="en-US" sz="1200" b="0">
                <a:solidFill>
                  <a:srgbClr val="FFFFFF"/>
                </a:solidFill>
                <a:latin typeface="Calibri"/>
              </a:rPr>
              <a:t>• Quality Gates enforce standards automatically</a:t>
            </a:r>
          </a:p>
          <a:p>
            <a:r>
              <a:rPr lang="en-US" sz="1200" b="0">
                <a:solidFill>
                  <a:srgbClr val="FFFFFF"/>
                </a:solidFill>
                <a:latin typeface="Calibri"/>
              </a:rPr>
              <a:t>• Every PR reviewed against Dubai Health standards</a:t>
            </a:r>
          </a:p>
        </p:txBody>
      </p:sp>
      <p:sp>
        <p:nvSpPr>
          <p:cNvPr id="7" name="Result"/>
          <p:cNvSpPr/>
          <p:nvPr/>
        </p:nvSpPr>
        <p:spPr>
          <a:xfrm>
            <a:off x="457200" y="4343400"/>
            <a:ext cx="8229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300" b="1" i="1">
                <a:solidFill>
                  <a:srgbClr val="FFFFFF"/>
                </a:solidFill>
                <a:latin typeface="Calibri"/>
              </a:rPr>
              <a:t>Result: Senior developers focus on architecture and innovation — not line-by-line code review.</a:t>
            </a:r>
          </a:p>
        </p:txBody>
      </p:sp>
      <p:sp>
        <p:nvSpPr>
          <p:cNvPr id="8" name="Footer"/>
          <p:cNvSpPr/>
          <p:nvPr/>
        </p:nvSpPr>
        <p:spPr>
          <a:xfrm>
            <a:off x="0" y="4877040"/>
            <a:ext cx="9144000" cy="266460"/>
          </a:xfrm>
          <a:prstGeom prst="rect">
            <a:avLst/>
          </a:prstGeom>
          <a:solidFill>
            <a:srgbClr val="003D5C"/>
          </a:solidFill>
          <a:ln>
            <a:solidFill>
              <a:srgbClr val="003D5C"/>
            </a:solidFill>
          </a:ln>
        </p:spPr>
        <p:txBody>
          <a:bodyPr wrap="square" anchor="ctr"/>
          <a:lstStyle/>
          <a:p>
            <a:pPr algn="r"/>
            <a:r>
              <a:rPr lang="en-US" sz="900" b="0">
                <a:solidFill>
                  <a:srgbClr val="FFFFFF"/>
                </a:solidFill>
                <a:latin typeface="Calibri"/>
              </a:rPr>
              <a:t>Dubai Health — Internal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567D"/>
          </a:solidFill>
          <a:ln>
            <a:solidFill>
              <a:srgbClr val="00567D"/>
            </a:solidFill>
          </a:ln>
        </p:spPr>
        <p:txBody>
          <a:bodyPr wrap="square" anchor="ctr"/>
          <a:lstStyle/>
          <a:p>
            <a:endParaRPr/>
          </a:p>
        </p:txBody>
      </p:sp>
      <p:sp>
        <p:nvSpPr>
          <p:cNvPr id="3" name="Title"/>
          <p:cNvSpPr/>
          <p:nvPr/>
        </p:nvSpPr>
        <p:spPr>
          <a:xfrm>
            <a:off x="457200" y="91440"/>
            <a:ext cx="70104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2000" b="1">
                <a:solidFill>
                  <a:srgbClr val="FFFFFF"/>
                </a:solidFill>
                <a:latin typeface="Calibri"/>
              </a:rPr>
              <a:t>SonarQube Enterprise: Unlocking AI You Already Own</a:t>
            </a:r>
          </a:p>
        </p:txBody>
      </p:sp>
      <p:sp>
        <p:nvSpPr>
          <p:cNvPr id="4" name="DH"/>
          <p:cNvSpPr/>
          <p:nvPr/>
        </p:nvSpPr>
        <p:spPr>
          <a:xfrm>
            <a:off x="7620000" y="914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r"/>
            <a:r>
              <a:rPr lang="en-US" sz="1400" b="1">
                <a:solidFill>
                  <a:srgbClr val="FFFFFF"/>
                </a:solidFill>
                <a:latin typeface="Calibri"/>
              </a:rPr>
              <a:t>Dubai Health</a:t>
            </a:r>
          </a:p>
        </p:txBody>
      </p:sp>
      <p:sp>
        <p:nvSpPr>
          <p:cNvPr id="5" name="Banner"/>
          <p:cNvSpPr/>
          <p:nvPr/>
        </p:nvSpPr>
        <p:spPr>
          <a:xfrm>
            <a:off x="457200" y="609600"/>
            <a:ext cx="8229600" cy="381000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Calibri"/>
              </a:rPr>
              <a:t>✅ Dubai Health already has SonarQube Enterprise — AI CodeFix is included in that license and has never been enabled</a:t>
            </a:r>
          </a:p>
        </p:txBody>
      </p:sp>
      <p:sp>
        <p:nvSpPr>
          <p:cNvPr id="6" name="Left"/>
          <p:cNvSpPr/>
          <p:nvPr/>
        </p:nvSpPr>
        <p:spPr>
          <a:xfrm>
            <a:off x="457200" y="1066800"/>
            <a:ext cx="3962400" cy="3581400"/>
          </a:xfrm>
          <a:prstGeom prst="rect">
            <a:avLst/>
          </a:prstGeom>
          <a:solidFill>
            <a:srgbClr val="EBF5FB"/>
          </a:solidFill>
          <a:ln w="12700">
            <a:solidFill>
              <a:srgbClr val="00567D"/>
            </a:solidFill>
          </a:ln>
        </p:spPr>
        <p:txBody>
          <a:bodyPr wrap="square" lIns="91440" tIns="91440" rIns="91440" bIns="91440" anchor="t"/>
          <a:lstStyle/>
          <a:p>
            <a:r>
              <a:rPr lang="en-US" sz="1400" b="1">
                <a:solidFill>
                  <a:srgbClr val="00567D"/>
                </a:solidFill>
                <a:latin typeface="Calibri"/>
              </a:rPr>
              <a:t>What AI CodeFix Does</a:t>
            </a:r>
          </a:p>
          <a:p>
            <a:r>
              <a:rPr lang="en-US" sz="105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• SonarQube finds an issue in your C# code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• Developer clicks “Generate AI Fix” button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• AI generates a complete code fix in seconds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• Developer clicks “Open in IDE” → fix appears in VS Code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• Developer reviews, accepts, and commits</a:t>
            </a:r>
          </a:p>
          <a:p>
            <a:r>
              <a:rPr lang="en-US" sz="105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400" b="1">
                <a:solidFill>
                  <a:srgbClr val="00567D"/>
                </a:solidFill>
                <a:latin typeface="Calibri"/>
              </a:rPr>
              <a:t>Supported Languages</a:t>
            </a:r>
          </a:p>
          <a:p>
            <a:r>
              <a:rPr lang="en-US" sz="105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100" b="1">
                <a:solidFill>
                  <a:srgbClr val="00567D"/>
                </a:solidFill>
                <a:latin typeface="Calibri"/>
              </a:rPr>
              <a:t>C# ✓  Java ✓  JavaScript ✓  TypeScript ✓</a:t>
            </a:r>
          </a:p>
          <a:p>
            <a:r>
              <a:rPr lang="en-US" sz="1100" b="1">
                <a:solidFill>
                  <a:srgbClr val="00567D"/>
                </a:solidFill>
                <a:latin typeface="Calibri"/>
              </a:rPr>
              <a:t>Python ✓  HTML ✓  CSS ✓  C++ ✓</a:t>
            </a:r>
          </a:p>
          <a:p>
            <a:r>
              <a:rPr lang="en-US" sz="105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400" b="1">
                <a:solidFill>
                  <a:srgbClr val="00567D"/>
                </a:solidFill>
                <a:latin typeface="Calibri"/>
              </a:rPr>
              <a:t>LLM Options</a:t>
            </a:r>
          </a:p>
          <a:p>
            <a:r>
              <a:rPr lang="en-US" sz="105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• GPT-5.1 (Sonar hosted — recommended)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• GPT-4o (Sonar hosted)</a:t>
            </a:r>
          </a:p>
          <a:p>
            <a:r>
              <a:rPr lang="en-US" sz="1100" b="1">
                <a:solidFill>
                  <a:srgbClr val="27AE60"/>
                </a:solidFill>
                <a:latin typeface="Calibri"/>
              </a:rPr>
              <a:t>• Your own Azure OpenAI → code stays in DH network</a:t>
            </a:r>
          </a:p>
        </p:txBody>
      </p:sp>
      <p:sp>
        <p:nvSpPr>
          <p:cNvPr id="7" name="Right"/>
          <p:cNvSpPr/>
          <p:nvPr/>
        </p:nvSpPr>
        <p:spPr>
          <a:xfrm>
            <a:off x="4572000" y="1066800"/>
            <a:ext cx="4114800" cy="3581400"/>
          </a:xfrm>
          <a:prstGeom prst="rect">
            <a:avLst/>
          </a:prstGeom>
          <a:solidFill>
            <a:srgbClr val="F8F9FA"/>
          </a:solidFill>
          <a:ln w="12700">
            <a:solidFill>
              <a:srgbClr val="27AE60"/>
            </a:solidFill>
          </a:ln>
        </p:spPr>
        <p:txBody>
          <a:bodyPr wrap="square" lIns="91440" tIns="91440" rIns="91440" bIns="91440" anchor="t"/>
          <a:lstStyle/>
          <a:p>
            <a:r>
              <a:rPr lang="en-US" sz="1400" b="1">
                <a:solidFill>
                  <a:srgbClr val="27AE60"/>
                </a:solidFill>
                <a:latin typeface="Calibri"/>
              </a:rPr>
              <a:t>How to Enable — 3 Steps</a:t>
            </a:r>
          </a:p>
          <a:p>
            <a:r>
              <a:rPr lang="en-US" sz="105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200" b="1">
                <a:solidFill>
                  <a:srgbClr val="00567D"/>
                </a:solidFill>
                <a:latin typeface="Calibri"/>
              </a:rPr>
              <a:t>Step 1 — Admin enables the feature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Administration → Configuration → General Settings → AI CodeFix → Enable</a:t>
            </a:r>
          </a:p>
          <a:p>
            <a:r>
              <a:rPr lang="en-US" sz="105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200" b="1">
                <a:solidFill>
                  <a:srgbClr val="00567D"/>
                </a:solidFill>
                <a:latin typeface="Calibri"/>
              </a:rPr>
              <a:t>Step 2 — Select Azure OpenAI as LLM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Enter DH Azure OpenAI endpoint and API key. Code never leaves Dubai Health network.</a:t>
            </a:r>
          </a:p>
          <a:p>
            <a:r>
              <a:rPr lang="en-US" sz="105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200" b="1">
                <a:solidFill>
                  <a:srgbClr val="00567D"/>
                </a:solidFill>
                <a:latin typeface="Calibri"/>
              </a:rPr>
              <a:t>Step 3 — Developers install SonarQube for VS Code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Connect to SonarQube Server in Connected Mode. AI fix suggestions appear directly inside VS Code. Also available in IntelliJ.</a:t>
            </a:r>
          </a:p>
          <a:p>
            <a:r>
              <a:rPr lang="en-US" sz="105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200" b="1">
                <a:solidFill>
                  <a:srgbClr val="DC3545"/>
                </a:solidFill>
                <a:latin typeface="Calibri"/>
              </a:rPr>
              <a:t>Zero new vendor approvals required.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SonarQube Enterprise is already approved. Azure OpenAI is already approved. This is a configuration change, not a procurement process. 🚀 Roadmap: SonarQube 2026.1 LTA introduced direct IDE agent integration — future capability for deeper IDE querying once approved at Dubai Health.</a:t>
            </a:r>
          </a:p>
        </p:txBody>
      </p:sp>
      <p:sp>
        <p:nvSpPr>
          <p:cNvPr id="8" name="Ftr"/>
          <p:cNvSpPr/>
          <p:nvPr/>
        </p:nvSpPr>
        <p:spPr>
          <a:xfrm>
            <a:off x="0" y="4877040"/>
            <a:ext cx="9144000" cy="266460"/>
          </a:xfrm>
          <a:prstGeom prst="rect">
            <a:avLst/>
          </a:prstGeom>
          <a:solidFill>
            <a:srgbClr val="00567D"/>
          </a:solidFill>
          <a:ln>
            <a:solidFill>
              <a:srgbClr val="00567D"/>
            </a:solidFill>
          </a:ln>
        </p:spPr>
        <p:txBody>
          <a:bodyPr wrap="square" anchor="ctr"/>
          <a:lstStyle/>
          <a:p>
            <a:pPr algn="r"/>
            <a:r>
              <a:rPr lang="en-US" sz="900" b="0">
                <a:solidFill>
                  <a:srgbClr val="FFFFFF"/>
                </a:solidFill>
                <a:latin typeface="Calibri"/>
              </a:rPr>
              <a:t>Dubai Health — Internal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567D"/>
          </a:solidFill>
          <a:ln>
            <a:solidFill>
              <a:srgbClr val="00567D"/>
            </a:solidFill>
          </a:ln>
        </p:spPr>
        <p:txBody>
          <a:bodyPr wrap="square" anchor="ctr"/>
          <a:lstStyle/>
          <a:p>
            <a:endParaRPr/>
          </a:p>
        </p:txBody>
      </p:sp>
      <p:sp>
        <p:nvSpPr>
          <p:cNvPr id="3" name="Title"/>
          <p:cNvSpPr/>
          <p:nvPr/>
        </p:nvSpPr>
        <p:spPr>
          <a:xfrm>
            <a:off x="457200" y="91440"/>
            <a:ext cx="70104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2200" b="1">
                <a:solidFill>
                  <a:srgbClr val="FFFFFF"/>
                </a:solidFill>
                <a:latin typeface="Calibri"/>
              </a:rPr>
              <a:t>Data Sovereignty: Why Azure OpenAI Matters</a:t>
            </a:r>
          </a:p>
        </p:txBody>
      </p:sp>
      <p:sp>
        <p:nvSpPr>
          <p:cNvPr id="4" name="DH"/>
          <p:cNvSpPr/>
          <p:nvPr/>
        </p:nvSpPr>
        <p:spPr>
          <a:xfrm>
            <a:off x="7620000" y="914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r"/>
            <a:r>
              <a:rPr lang="en-US" sz="1400" b="1">
                <a:solidFill>
                  <a:srgbClr val="FFFFFF"/>
                </a:solidFill>
                <a:latin typeface="Calibri"/>
              </a:rPr>
              <a:t>Dubai Health</a:t>
            </a:r>
          </a:p>
        </p:txBody>
      </p:sp>
      <p:sp>
        <p:nvSpPr>
          <p:cNvPr id="5" name="OptA"/>
          <p:cNvSpPr/>
          <p:nvPr/>
        </p:nvSpPr>
        <p:spPr>
          <a:xfrm>
            <a:off x="457200" y="609600"/>
            <a:ext cx="3962400" cy="4038600"/>
          </a:xfrm>
          <a:prstGeom prst="rect">
            <a:avLst/>
          </a:prstGeom>
          <a:solidFill>
            <a:srgbClr val="FEF9E7"/>
          </a:solidFill>
          <a:ln w="12700">
            <a:solidFill>
              <a:srgbClr val="E67E22"/>
            </a:solidFill>
          </a:ln>
        </p:spPr>
        <p:txBody>
          <a:bodyPr wrap="square" lIns="91440" tIns="91440" rIns="91440" bIns="91440" anchor="t"/>
          <a:lstStyle/>
          <a:p>
            <a:r>
              <a:rPr lang="en-US" sz="1400" b="1">
                <a:solidFill>
                  <a:srgbClr val="E67E22"/>
                </a:solidFill>
                <a:latin typeface="Calibri"/>
              </a:rPr>
              <a:t>Option A — Using Sonar’s LLM</a:t>
            </a:r>
          </a:p>
          <a:p>
            <a:r>
              <a:rPr lang="en-US" sz="105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100" b="1">
                <a:solidFill>
                  <a:srgbClr val="333333"/>
                </a:solidFill>
                <a:latin typeface="Calibri"/>
              </a:rPr>
              <a:t>Data flow: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Code snippets → api.sonarqube.io → Sonar’s GPT-5.1 → fix returned</a:t>
            </a:r>
          </a:p>
          <a:p>
            <a:r>
              <a:rPr lang="en-US" sz="105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100" b="1">
                <a:solidFill>
                  <a:srgbClr val="333333"/>
                </a:solidFill>
                <a:latin typeface="Calibri"/>
              </a:rPr>
              <a:t>Characteristics: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• Easiest to set up — no config needed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• Monthly usage limits apply</a:t>
            </a:r>
          </a:p>
          <a:p>
            <a:r>
              <a:rPr lang="en-US" sz="1100" b="1">
                <a:solidFill>
                  <a:srgbClr val="DC3545"/>
                </a:solidFill>
                <a:latin typeface="Calibri"/>
              </a:rPr>
              <a:t>• Code snippets leave Dubai Health network</a:t>
            </a:r>
          </a:p>
          <a:p>
            <a:r>
              <a:rPr lang="en-US" sz="1100" b="1">
                <a:solidFill>
                  <a:srgbClr val="DC3545"/>
                </a:solidFill>
                <a:latin typeface="Calibri"/>
              </a:rPr>
              <a:t>• Requires DPA review for healthcare compliance</a:t>
            </a:r>
          </a:p>
          <a:p>
            <a:r>
              <a:rPr lang="en-US" sz="105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100" b="1">
                <a:solidFill>
                  <a:srgbClr val="E67E22"/>
                </a:solidFill>
                <a:latin typeface="Calibri"/>
              </a:rPr>
              <a:t>Verdict: Not recommended for Dubai Health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Patient data context in code snippets may violate UAE PDPL and DHA data governance policies.</a:t>
            </a:r>
          </a:p>
        </p:txBody>
      </p:sp>
      <p:sp>
        <p:nvSpPr>
          <p:cNvPr id="6" name="OptB"/>
          <p:cNvSpPr/>
          <p:nvPr/>
        </p:nvSpPr>
        <p:spPr>
          <a:xfrm>
            <a:off x="4572000" y="609600"/>
            <a:ext cx="4114800" cy="4038600"/>
          </a:xfrm>
          <a:prstGeom prst="rect">
            <a:avLst/>
          </a:prstGeom>
          <a:solidFill>
            <a:srgbClr val="EAFAF1"/>
          </a:solidFill>
          <a:ln w="12700">
            <a:solidFill>
              <a:srgbClr val="27AE60"/>
            </a:solidFill>
          </a:ln>
        </p:spPr>
        <p:txBody>
          <a:bodyPr wrap="square" lIns="91440" tIns="91440" rIns="91440" bIns="91440" anchor="t"/>
          <a:lstStyle/>
          <a:p>
            <a:r>
              <a:rPr lang="en-US" sz="1400" b="1">
                <a:solidFill>
                  <a:srgbClr val="27AE60"/>
                </a:solidFill>
                <a:latin typeface="Calibri"/>
              </a:rPr>
              <a:t>Option B — Your Own Azure OpenAI ✅</a:t>
            </a:r>
          </a:p>
          <a:p>
            <a:r>
              <a:rPr lang="en-US" sz="105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100" b="1">
                <a:solidFill>
                  <a:srgbClr val="333333"/>
                </a:solidFill>
                <a:latin typeface="Calibri"/>
              </a:rPr>
              <a:t>Data flow: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Code snippets → DH Azure OpenAI (sonar-demo-openai) → fix returned</a:t>
            </a:r>
          </a:p>
          <a:p>
            <a:r>
              <a:rPr lang="en-US" sz="105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100" b="1">
                <a:solidFill>
                  <a:srgbClr val="333333"/>
                </a:solidFill>
                <a:latin typeface="Calibri"/>
              </a:rPr>
              <a:t>Characteristics:</a:t>
            </a:r>
          </a:p>
          <a:p>
            <a:r>
              <a:rPr lang="en-US" sz="1100" b="1">
                <a:solidFill>
                  <a:srgbClr val="27AE60"/>
                </a:solidFill>
                <a:latin typeface="Calibri"/>
              </a:rPr>
              <a:t>• Code never leaves Dubai Health network</a:t>
            </a:r>
          </a:p>
          <a:p>
            <a:r>
              <a:rPr lang="en-US" sz="1100" b="1">
                <a:solidFill>
                  <a:srgbClr val="27AE60"/>
                </a:solidFill>
                <a:latin typeface="Calibri"/>
              </a:rPr>
              <a:t>• Uses DH’s own Azure subscription — already approved</a:t>
            </a:r>
          </a:p>
          <a:p>
            <a:r>
              <a:rPr lang="en-US" sz="1100" b="1">
                <a:solidFill>
                  <a:srgbClr val="27AE60"/>
                </a:solidFill>
                <a:latin typeface="Calibri"/>
              </a:rPr>
              <a:t>• No monthly limits — rate limits only from DH’s own Azure</a:t>
            </a:r>
          </a:p>
          <a:p>
            <a:r>
              <a:rPr lang="en-US" sz="1100" b="1">
                <a:solidFill>
                  <a:srgbClr val="27AE60"/>
                </a:solidFill>
                <a:latin typeface="Calibri"/>
              </a:rPr>
              <a:t>• Full control — DH owns the endpoint and the data</a:t>
            </a:r>
          </a:p>
          <a:p>
            <a:r>
              <a:rPr lang="en-US" sz="1100" b="1">
                <a:solidFill>
                  <a:srgbClr val="27AE60"/>
                </a:solidFill>
                <a:latin typeface="Calibri"/>
              </a:rPr>
              <a:t>• No new DPA needed — Microsoft already signed</a:t>
            </a:r>
          </a:p>
          <a:p>
            <a:r>
              <a:rPr lang="en-US" sz="105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100" b="1">
                <a:solidFill>
                  <a:srgbClr val="333333"/>
                </a:solidFill>
                <a:latin typeface="Calibri"/>
              </a:rPr>
              <a:t>Already provisioned: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Resource: sonar-demo-openai (East US) ⚠ For full UAE data residency compliance, move to UAE North Azure region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Deployment: codefix-model (GPT-4.1) ✓ Succeeded</a:t>
            </a:r>
          </a:p>
          <a:p>
            <a:r>
              <a:rPr lang="en-US" sz="105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100" b="1">
                <a:solidFill>
                  <a:srgbClr val="27AE60"/>
                </a:solidFill>
                <a:latin typeface="Calibri"/>
              </a:rPr>
              <a:t>Verdict: Recommended for Dubai Health</a:t>
            </a:r>
          </a:p>
        </p:txBody>
      </p:sp>
      <p:sp>
        <p:nvSpPr>
          <p:cNvPr id="7" name="Ftr"/>
          <p:cNvSpPr/>
          <p:nvPr/>
        </p:nvSpPr>
        <p:spPr>
          <a:xfrm>
            <a:off x="0" y="4877040"/>
            <a:ext cx="9144000" cy="266460"/>
          </a:xfrm>
          <a:prstGeom prst="rect">
            <a:avLst/>
          </a:prstGeom>
          <a:solidFill>
            <a:srgbClr val="00567D"/>
          </a:solidFill>
          <a:ln>
            <a:solidFill>
              <a:srgbClr val="00567D"/>
            </a:solidFill>
          </a:ln>
        </p:spPr>
        <p:txBody>
          <a:bodyPr wrap="square" anchor="ctr"/>
          <a:lstStyle/>
          <a:p>
            <a:pPr algn="r"/>
            <a:r>
              <a:rPr lang="en-US" sz="900" b="0">
                <a:solidFill>
                  <a:srgbClr val="FFFFFF"/>
                </a:solidFill>
                <a:latin typeface="Calibri"/>
              </a:rPr>
              <a:t>Dubai Health — Internal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567D"/>
          </a:solidFill>
          <a:ln>
            <a:solidFill>
              <a:srgbClr val="00567D"/>
            </a:solidFill>
          </a:ln>
        </p:spPr>
        <p:txBody>
          <a:bodyPr wrap="square" anchor="ctr"/>
          <a:lstStyle/>
          <a:p>
            <a:endParaRPr/>
          </a:p>
        </p:txBody>
      </p:sp>
      <p:sp>
        <p:nvSpPr>
          <p:cNvPr id="3" name="Title"/>
          <p:cNvSpPr/>
          <p:nvPr/>
        </p:nvSpPr>
        <p:spPr>
          <a:xfrm>
            <a:off x="457200" y="91440"/>
            <a:ext cx="70104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2000" b="1">
                <a:solidFill>
                  <a:srgbClr val="FFFFFF"/>
                </a:solidFill>
                <a:latin typeface="Calibri"/>
              </a:rPr>
              <a:t>Solution Comparison: Two Approaches for Dubai Health</a:t>
            </a:r>
          </a:p>
        </p:txBody>
      </p:sp>
      <p:sp>
        <p:nvSpPr>
          <p:cNvPr id="4" name="DH"/>
          <p:cNvSpPr/>
          <p:nvPr/>
        </p:nvSpPr>
        <p:spPr>
          <a:xfrm>
            <a:off x="7620000" y="914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r"/>
            <a:r>
              <a:rPr lang="en-US" sz="1400" b="1">
                <a:solidFill>
                  <a:srgbClr val="FFFFFF"/>
                </a:solidFill>
                <a:latin typeface="Calibri"/>
              </a:rPr>
              <a:t>Dubai Health</a:t>
            </a:r>
          </a:p>
        </p:txBody>
      </p:sp>
      <p:sp>
        <p:nvSpPr>
          <p:cNvPr id="5" name="ColH1"/>
          <p:cNvSpPr/>
          <p:nvPr/>
        </p:nvSpPr>
        <p:spPr>
          <a:xfrm>
            <a:off x="3200400" y="609600"/>
            <a:ext cx="2743200" cy="381000"/>
          </a:xfrm>
          <a:prstGeom prst="rect">
            <a:avLst/>
          </a:prstGeom>
          <a:solidFill>
            <a:srgbClr val="00567D"/>
          </a:solidFill>
          <a:ln>
            <a:solidFill>
              <a:srgbClr val="00567D"/>
            </a:solidFill>
          </a:ln>
        </p:spPr>
        <p:txBody>
          <a:bodyPr wrap="square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Calibri"/>
              </a:rPr>
              <a:t>🤖 CodeAnt AI</a:t>
            </a:r>
          </a:p>
          <a:p>
            <a:pPr algn="ctr"/>
            <a:r>
              <a:rPr lang="en-US" sz="900" b="0" i="1">
                <a:solidFill>
                  <a:srgbClr val="FFFFFF"/>
                </a:solidFill>
                <a:latin typeface="Calibri"/>
              </a:rPr>
              <a:t>Enterprise / VPC / Air-gapped</a:t>
            </a:r>
          </a:p>
        </p:txBody>
      </p:sp>
      <p:sp>
        <p:nvSpPr>
          <p:cNvPr id="6" name="ColH2"/>
          <p:cNvSpPr/>
          <p:nvPr/>
        </p:nvSpPr>
        <p:spPr>
          <a:xfrm>
            <a:off x="6096000" y="609600"/>
            <a:ext cx="2895600" cy="381000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txBody>
          <a:bodyPr wrap="square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Calibri"/>
              </a:rPr>
              <a:t>📊 SonarQube + Azure OpenAI</a:t>
            </a:r>
          </a:p>
          <a:p>
            <a:pPr algn="ctr"/>
            <a:r>
              <a:rPr lang="en-US" sz="900" b="0" i="1">
                <a:solidFill>
                  <a:srgbClr val="FFFFFF"/>
                </a:solidFill>
                <a:latin typeface="Calibri"/>
              </a:rPr>
              <a:t>Already licensed — Enable AI CodeFix</a:t>
            </a:r>
          </a:p>
        </p:txBody>
      </p:sp>
      <p:sp>
        <p:nvSpPr>
          <p:cNvPr id="7" name="ColH0"/>
          <p:cNvSpPr/>
          <p:nvPr/>
        </p:nvSpPr>
        <p:spPr>
          <a:xfrm>
            <a:off x="457200" y="609600"/>
            <a:ext cx="2590800" cy="381000"/>
          </a:xfrm>
          <a:prstGeom prst="rect">
            <a:avLst/>
          </a:prstGeom>
          <a:solidFill>
            <a:srgbClr val="37474F"/>
          </a:solidFill>
          <a:ln>
            <a:solidFill>
              <a:srgbClr val="37474F"/>
            </a:solidFill>
          </a:ln>
        </p:spPr>
        <p:txBody>
          <a:bodyPr wrap="square" lIns="91440" anchor="ctr"/>
          <a:lstStyle/>
          <a:p>
            <a:r>
              <a:rPr lang="en-US" sz="1200" b="1">
                <a:solidFill>
                  <a:srgbClr val="FFFFFF"/>
                </a:solidFill>
                <a:latin typeface="Calibri"/>
              </a:rPr>
              <a:t>Criteria</a:t>
            </a:r>
          </a:p>
        </p:txBody>
      </p:sp>
      <p:sp>
        <p:nvSpPr>
          <p:cNvPr id="8" name="R1C0"/>
          <p:cNvSpPr/>
          <p:nvPr/>
        </p:nvSpPr>
        <p:spPr>
          <a:xfrm>
            <a:off x="457200" y="990600"/>
            <a:ext cx="2590800" cy="30480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txBody>
          <a:bodyPr wrap="square" lIns="91440" tIns="45720" anchor="ctr"/>
          <a:lstStyle/>
          <a:p>
            <a:r>
              <a:rPr lang="en-US" sz="1050" b="1">
                <a:solidFill>
                  <a:srgbClr val="333333"/>
                </a:solidFill>
                <a:latin typeface="Calibri"/>
              </a:rPr>
              <a:t>New vendor approval?</a:t>
            </a:r>
          </a:p>
        </p:txBody>
      </p:sp>
      <p:sp>
        <p:nvSpPr>
          <p:cNvPr id="9" name="R1C1"/>
          <p:cNvSpPr/>
          <p:nvPr/>
        </p:nvSpPr>
        <p:spPr>
          <a:xfrm>
            <a:off x="3200400" y="990600"/>
            <a:ext cx="2743200" cy="304800"/>
          </a:xfrm>
          <a:prstGeom prst="rect">
            <a:avLst/>
          </a:prstGeom>
          <a:solidFill>
            <a:srgbClr val="FFF3CD"/>
          </a:solidFill>
          <a:ln w="6350">
            <a:solidFill>
              <a:srgbClr val="DEE2E6"/>
            </a:solidFill>
          </a:ln>
        </p:spPr>
        <p:txBody>
          <a:bodyPr wrap="square" lIns="91440" tIns="45720" anchor="ctr"/>
          <a:lstStyle/>
          <a:p>
            <a:pPr algn="ctr"/>
            <a:r>
              <a:rPr lang="en-US" sz="1050" b="0">
                <a:solidFill>
                  <a:srgbClr val="856404"/>
                </a:solidFill>
                <a:latin typeface="Calibri"/>
              </a:rPr>
              <a:t>⚠ Yes — Enterprise contract required</a:t>
            </a:r>
          </a:p>
        </p:txBody>
      </p:sp>
      <p:sp>
        <p:nvSpPr>
          <p:cNvPr id="10" name="R1C2"/>
          <p:cNvSpPr/>
          <p:nvPr/>
        </p:nvSpPr>
        <p:spPr>
          <a:xfrm>
            <a:off x="6096000" y="990600"/>
            <a:ext cx="2895600" cy="304800"/>
          </a:xfrm>
          <a:prstGeom prst="rect">
            <a:avLst/>
          </a:prstGeom>
          <a:solidFill>
            <a:srgbClr val="D4EDDA"/>
          </a:solidFill>
          <a:ln w="6350">
            <a:solidFill>
              <a:srgbClr val="DEE2E6"/>
            </a:solidFill>
          </a:ln>
        </p:spPr>
        <p:txBody>
          <a:bodyPr wrap="square" lIns="91440" tIns="45720" anchor="ctr"/>
          <a:lstStyle/>
          <a:p>
            <a:pPr algn="ctr"/>
            <a:r>
              <a:rPr lang="en-US" sz="1050" b="0">
                <a:solidFill>
                  <a:srgbClr val="155724"/>
                </a:solidFill>
                <a:latin typeface="Calibri"/>
              </a:rPr>
              <a:t>✔ No — Already using SonarQube Enterprise</a:t>
            </a:r>
          </a:p>
        </p:txBody>
      </p:sp>
      <p:sp>
        <p:nvSpPr>
          <p:cNvPr id="11" name="R2C0"/>
          <p:cNvSpPr/>
          <p:nvPr/>
        </p:nvSpPr>
        <p:spPr>
          <a:xfrm>
            <a:off x="457200" y="1295400"/>
            <a:ext cx="259080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txBody>
          <a:bodyPr wrap="square" lIns="91440" tIns="45720" anchor="ctr"/>
          <a:lstStyle/>
          <a:p>
            <a:r>
              <a:rPr lang="en-US" sz="1050" b="1">
                <a:solidFill>
                  <a:srgbClr val="333333"/>
                </a:solidFill>
                <a:latin typeface="Calibri"/>
              </a:rPr>
              <a:t>Code leaves DH network?</a:t>
            </a:r>
          </a:p>
        </p:txBody>
      </p:sp>
      <p:sp>
        <p:nvSpPr>
          <p:cNvPr id="12" name="R2C1"/>
          <p:cNvSpPr/>
          <p:nvPr/>
        </p:nvSpPr>
        <p:spPr>
          <a:xfrm>
            <a:off x="3200400" y="1295400"/>
            <a:ext cx="2743200" cy="304800"/>
          </a:xfrm>
          <a:prstGeom prst="rect">
            <a:avLst/>
          </a:prstGeom>
          <a:solidFill>
            <a:srgbClr val="D4EDDA"/>
          </a:solidFill>
          <a:ln w="6350">
            <a:solidFill>
              <a:srgbClr val="DEE2E6"/>
            </a:solidFill>
          </a:ln>
        </p:spPr>
        <p:txBody>
          <a:bodyPr wrap="square" lIns="91440" tIns="45720" anchor="ctr"/>
          <a:lstStyle/>
          <a:p>
            <a:pPr algn="ctr"/>
            <a:r>
              <a:rPr lang="en-US" sz="1050" b="0">
                <a:solidFill>
                  <a:srgbClr val="155724"/>
                </a:solidFill>
                <a:latin typeface="Calibri"/>
              </a:rPr>
              <a:t>✔ No — On-prem / VPC deployment</a:t>
            </a:r>
          </a:p>
        </p:txBody>
      </p:sp>
      <p:sp>
        <p:nvSpPr>
          <p:cNvPr id="13" name="R2C2"/>
          <p:cNvSpPr/>
          <p:nvPr/>
        </p:nvSpPr>
        <p:spPr>
          <a:xfrm>
            <a:off x="6096000" y="1295400"/>
            <a:ext cx="2895600" cy="304800"/>
          </a:xfrm>
          <a:prstGeom prst="rect">
            <a:avLst/>
          </a:prstGeom>
          <a:solidFill>
            <a:srgbClr val="D4EDDA"/>
          </a:solidFill>
          <a:ln w="6350">
            <a:solidFill>
              <a:srgbClr val="DEE2E6"/>
            </a:solidFill>
          </a:ln>
        </p:spPr>
        <p:txBody>
          <a:bodyPr wrap="square" lIns="91440" tIns="45720" anchor="ctr"/>
          <a:lstStyle/>
          <a:p>
            <a:pPr algn="ctr"/>
            <a:r>
              <a:rPr lang="en-US" sz="1050" b="0">
                <a:solidFill>
                  <a:srgbClr val="155724"/>
                </a:solidFill>
                <a:latin typeface="Calibri"/>
              </a:rPr>
              <a:t>✔ No — Stays in DH Azure tenant</a:t>
            </a:r>
          </a:p>
        </p:txBody>
      </p:sp>
      <p:sp>
        <p:nvSpPr>
          <p:cNvPr id="14" name="R3C0"/>
          <p:cNvSpPr/>
          <p:nvPr/>
        </p:nvSpPr>
        <p:spPr>
          <a:xfrm>
            <a:off x="457200" y="1600200"/>
            <a:ext cx="2590800" cy="30480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txBody>
          <a:bodyPr wrap="square" lIns="91440" tIns="45720" anchor="ctr"/>
          <a:lstStyle/>
          <a:p>
            <a:r>
              <a:rPr lang="en-US" sz="1050" b="1">
                <a:solidFill>
                  <a:srgbClr val="333333"/>
                </a:solidFill>
                <a:latin typeface="Calibri"/>
              </a:rPr>
              <a:t>Additional licensing cost?</a:t>
            </a:r>
          </a:p>
        </p:txBody>
      </p:sp>
      <p:sp>
        <p:nvSpPr>
          <p:cNvPr id="15" name="R3C1"/>
          <p:cNvSpPr/>
          <p:nvPr/>
        </p:nvSpPr>
        <p:spPr>
          <a:xfrm>
            <a:off x="3200400" y="1600200"/>
            <a:ext cx="2743200" cy="304800"/>
          </a:xfrm>
          <a:prstGeom prst="rect">
            <a:avLst/>
          </a:prstGeom>
          <a:solidFill>
            <a:srgbClr val="FFF3CD"/>
          </a:solidFill>
          <a:ln w="6350">
            <a:solidFill>
              <a:srgbClr val="DEE2E6"/>
            </a:solidFill>
          </a:ln>
        </p:spPr>
        <p:txBody>
          <a:bodyPr wrap="square" lIns="91440" tIns="45720" anchor="ctr"/>
          <a:lstStyle/>
          <a:p>
            <a:pPr algn="ctr"/>
            <a:r>
              <a:rPr lang="en-US" sz="1050" b="0">
                <a:solidFill>
                  <a:srgbClr val="856404"/>
                </a:solidFill>
                <a:latin typeface="Calibri"/>
              </a:rPr>
              <a:t>⚠ Yes — Enterprise subscription (contact sales)</a:t>
            </a:r>
          </a:p>
        </p:txBody>
      </p:sp>
      <p:sp>
        <p:nvSpPr>
          <p:cNvPr id="16" name="R3C2"/>
          <p:cNvSpPr/>
          <p:nvPr/>
        </p:nvSpPr>
        <p:spPr>
          <a:xfrm>
            <a:off x="6096000" y="1600200"/>
            <a:ext cx="2895600" cy="304800"/>
          </a:xfrm>
          <a:prstGeom prst="rect">
            <a:avLst/>
          </a:prstGeom>
          <a:solidFill>
            <a:srgbClr val="D4EDDA"/>
          </a:solidFill>
          <a:ln w="6350">
            <a:solidFill>
              <a:srgbClr val="DEE2E6"/>
            </a:solidFill>
          </a:ln>
        </p:spPr>
        <p:txBody>
          <a:bodyPr wrap="square" lIns="91440" tIns="45720" anchor="ctr"/>
          <a:lstStyle/>
          <a:p>
            <a:pPr algn="ctr"/>
            <a:r>
              <a:rPr lang="en-US" sz="1050" b="0">
                <a:solidFill>
                  <a:srgbClr val="155724"/>
                </a:solidFill>
                <a:latin typeface="Calibri"/>
              </a:rPr>
              <a:t>✔ No — AI CodeFix included in Enterprise license</a:t>
            </a:r>
          </a:p>
        </p:txBody>
      </p:sp>
      <p:sp>
        <p:nvSpPr>
          <p:cNvPr id="17" name="R4C0"/>
          <p:cNvSpPr/>
          <p:nvPr/>
        </p:nvSpPr>
        <p:spPr>
          <a:xfrm>
            <a:off x="457200" y="1905000"/>
            <a:ext cx="259080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txBody>
          <a:bodyPr wrap="square" lIns="91440" tIns="45720" anchor="ctr"/>
          <a:lstStyle/>
          <a:p>
            <a:r>
              <a:rPr lang="en-US" sz="1050" b="1">
                <a:solidFill>
                  <a:srgbClr val="333333"/>
                </a:solidFill>
                <a:latin typeface="Calibri"/>
              </a:rPr>
              <a:t>UAE PDPL cross-border risk?</a:t>
            </a:r>
          </a:p>
        </p:txBody>
      </p:sp>
      <p:sp>
        <p:nvSpPr>
          <p:cNvPr id="18" name="R4C1"/>
          <p:cNvSpPr/>
          <p:nvPr/>
        </p:nvSpPr>
        <p:spPr>
          <a:xfrm>
            <a:off x="3200400" y="1905000"/>
            <a:ext cx="2743200" cy="304800"/>
          </a:xfrm>
          <a:prstGeom prst="rect">
            <a:avLst/>
          </a:prstGeom>
          <a:solidFill>
            <a:srgbClr val="D4EDDA"/>
          </a:solidFill>
          <a:ln w="6350">
            <a:solidFill>
              <a:srgbClr val="DEE2E6"/>
            </a:solidFill>
          </a:ln>
        </p:spPr>
        <p:txBody>
          <a:bodyPr wrap="square" lIns="91440" tIns="45720" anchor="ctr"/>
          <a:lstStyle/>
          <a:p>
            <a:pPr algn="ctr"/>
            <a:r>
              <a:rPr lang="en-US" sz="1050" b="0">
                <a:solidFill>
                  <a:srgbClr val="155724"/>
                </a:solidFill>
                <a:latin typeface="Calibri"/>
              </a:rPr>
              <a:t>✔ Eliminated — On-prem / VPC deployment</a:t>
            </a:r>
          </a:p>
        </p:txBody>
      </p:sp>
      <p:sp>
        <p:nvSpPr>
          <p:cNvPr id="19" name="R4C2"/>
          <p:cNvSpPr/>
          <p:nvPr/>
        </p:nvSpPr>
        <p:spPr>
          <a:xfrm>
            <a:off x="6096000" y="1905000"/>
            <a:ext cx="2895600" cy="304800"/>
          </a:xfrm>
          <a:prstGeom prst="rect">
            <a:avLst/>
          </a:prstGeom>
          <a:solidFill>
            <a:srgbClr val="D4EDDA"/>
          </a:solidFill>
          <a:ln w="6350">
            <a:solidFill>
              <a:srgbClr val="DEE2E6"/>
            </a:solidFill>
          </a:ln>
        </p:spPr>
        <p:txBody>
          <a:bodyPr wrap="square" lIns="91440" tIns="45720" anchor="ctr"/>
          <a:lstStyle/>
          <a:p>
            <a:pPr algn="ctr"/>
            <a:r>
              <a:rPr lang="en-US" sz="1050" b="0">
                <a:solidFill>
                  <a:srgbClr val="155724"/>
                </a:solidFill>
                <a:latin typeface="Calibri"/>
              </a:rPr>
              <a:t>✔ Eliminated — DH Azure tenant (BYO model)</a:t>
            </a:r>
          </a:p>
        </p:txBody>
      </p:sp>
      <p:sp>
        <p:nvSpPr>
          <p:cNvPr id="20" name="R5C0"/>
          <p:cNvSpPr/>
          <p:nvPr/>
        </p:nvSpPr>
        <p:spPr>
          <a:xfrm>
            <a:off x="457200" y="2209800"/>
            <a:ext cx="2590800" cy="30480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txBody>
          <a:bodyPr wrap="square" lIns="91440" tIns="45720" anchor="ctr"/>
          <a:lstStyle/>
          <a:p>
            <a:r>
              <a:rPr lang="en-US" sz="1050" b="1">
                <a:solidFill>
                  <a:srgbClr val="333333"/>
                </a:solidFill>
                <a:latin typeface="Calibri"/>
              </a:rPr>
              <a:t>DHA AI Policy approval?</a:t>
            </a:r>
          </a:p>
        </p:txBody>
      </p:sp>
      <p:sp>
        <p:nvSpPr>
          <p:cNvPr id="21" name="R5C1"/>
          <p:cNvSpPr/>
          <p:nvPr/>
        </p:nvSpPr>
        <p:spPr>
          <a:xfrm>
            <a:off x="3200400" y="2209800"/>
            <a:ext cx="2743200" cy="304800"/>
          </a:xfrm>
          <a:prstGeom prst="rect">
            <a:avLst/>
          </a:prstGeom>
          <a:solidFill>
            <a:srgbClr val="FFF3CD"/>
          </a:solidFill>
          <a:ln w="6350">
            <a:solidFill>
              <a:srgbClr val="DEE2E6"/>
            </a:solidFill>
          </a:ln>
        </p:spPr>
        <p:txBody>
          <a:bodyPr wrap="square" lIns="91440" tIns="45720" anchor="ctr"/>
          <a:lstStyle/>
          <a:p>
            <a:pPr algn="ctr"/>
            <a:r>
              <a:rPr lang="en-US" sz="1050" b="0">
                <a:solidFill>
                  <a:srgbClr val="856404"/>
                </a:solidFill>
                <a:latin typeface="Calibri"/>
              </a:rPr>
              <a:t>⚠ Required — Any AI tool needs DHA governance</a:t>
            </a:r>
          </a:p>
        </p:txBody>
      </p:sp>
      <p:sp>
        <p:nvSpPr>
          <p:cNvPr id="22" name="R5C2"/>
          <p:cNvSpPr/>
          <p:nvPr/>
        </p:nvSpPr>
        <p:spPr>
          <a:xfrm>
            <a:off x="6096000" y="2209800"/>
            <a:ext cx="2895600" cy="304800"/>
          </a:xfrm>
          <a:prstGeom prst="rect">
            <a:avLst/>
          </a:prstGeom>
          <a:solidFill>
            <a:srgbClr val="FFF3CD"/>
          </a:solidFill>
          <a:ln w="6350">
            <a:solidFill>
              <a:srgbClr val="DEE2E6"/>
            </a:solidFill>
          </a:ln>
        </p:spPr>
        <p:txBody>
          <a:bodyPr wrap="square" lIns="91440" tIns="45720" anchor="ctr"/>
          <a:lstStyle/>
          <a:p>
            <a:pPr algn="ctr"/>
            <a:r>
              <a:rPr lang="en-US" sz="1050" b="0">
                <a:solidFill>
                  <a:srgbClr val="856404"/>
                </a:solidFill>
                <a:latin typeface="Calibri"/>
              </a:rPr>
              <a:t>⚠ Required — Any AI tool needs DHA governance</a:t>
            </a:r>
          </a:p>
        </p:txBody>
      </p:sp>
      <p:sp>
        <p:nvSpPr>
          <p:cNvPr id="23" name="R6C0"/>
          <p:cNvSpPr/>
          <p:nvPr/>
        </p:nvSpPr>
        <p:spPr>
          <a:xfrm>
            <a:off x="457200" y="2514600"/>
            <a:ext cx="259080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txBody>
          <a:bodyPr wrap="square" lIns="91440" tIns="45720" anchor="ctr"/>
          <a:lstStyle/>
          <a:p>
            <a:r>
              <a:rPr lang="en-US" sz="1050" b="1">
                <a:solidFill>
                  <a:srgbClr val="333333"/>
                </a:solidFill>
                <a:latin typeface="Calibri"/>
              </a:rPr>
              <a:t>AI PR review (inline comments)?</a:t>
            </a:r>
          </a:p>
        </p:txBody>
      </p:sp>
      <p:sp>
        <p:nvSpPr>
          <p:cNvPr id="24" name="R6C1"/>
          <p:cNvSpPr/>
          <p:nvPr/>
        </p:nvSpPr>
        <p:spPr>
          <a:xfrm>
            <a:off x="3200400" y="2514600"/>
            <a:ext cx="2743200" cy="304800"/>
          </a:xfrm>
          <a:prstGeom prst="rect">
            <a:avLst/>
          </a:prstGeom>
          <a:solidFill>
            <a:srgbClr val="D4EDDA"/>
          </a:solidFill>
          <a:ln w="6350">
            <a:solidFill>
              <a:srgbClr val="DEE2E6"/>
            </a:solidFill>
          </a:ln>
        </p:spPr>
        <p:txBody>
          <a:bodyPr wrap="square" lIns="91440" tIns="45720" anchor="ctr"/>
          <a:lstStyle/>
          <a:p>
            <a:pPr algn="ctr"/>
            <a:r>
              <a:rPr lang="en-US" sz="1050" b="0">
                <a:solidFill>
                  <a:srgbClr val="155724"/>
                </a:solidFill>
                <a:latin typeface="Calibri"/>
              </a:rPr>
              <a:t>✔ Yes — Native AI-native feature</a:t>
            </a:r>
          </a:p>
        </p:txBody>
      </p:sp>
      <p:sp>
        <p:nvSpPr>
          <p:cNvPr id="25" name="R6C2"/>
          <p:cNvSpPr/>
          <p:nvPr/>
        </p:nvSpPr>
        <p:spPr>
          <a:xfrm>
            <a:off x="6096000" y="2514600"/>
            <a:ext cx="2895600" cy="304800"/>
          </a:xfrm>
          <a:prstGeom prst="rect">
            <a:avLst/>
          </a:prstGeom>
          <a:solidFill>
            <a:srgbClr val="FFF3CD"/>
          </a:solidFill>
          <a:ln w="6350">
            <a:solidFill>
              <a:srgbClr val="DEE2E6"/>
            </a:solidFill>
          </a:ln>
        </p:spPr>
        <p:txBody>
          <a:bodyPr wrap="square" lIns="91440" tIns="45720" anchor="ctr"/>
          <a:lstStyle/>
          <a:p>
            <a:pPr algn="ctr"/>
            <a:r>
              <a:rPr lang="en-US" sz="1050" b="0">
                <a:solidFill>
                  <a:srgbClr val="856404"/>
                </a:solidFill>
                <a:latin typeface="Calibri"/>
              </a:rPr>
              <a:t>⚠ Alpha — Sonar Review (2026, not GA yet)</a:t>
            </a:r>
          </a:p>
        </p:txBody>
      </p:sp>
      <p:sp>
        <p:nvSpPr>
          <p:cNvPr id="26" name="R7C0"/>
          <p:cNvSpPr/>
          <p:nvPr/>
        </p:nvSpPr>
        <p:spPr>
          <a:xfrm>
            <a:off x="457200" y="2819400"/>
            <a:ext cx="2590800" cy="30480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txBody>
          <a:bodyPr wrap="square" lIns="91440" tIns="45720" anchor="ctr"/>
          <a:lstStyle/>
          <a:p>
            <a:r>
              <a:rPr lang="en-US" sz="1050" b="1">
                <a:solidFill>
                  <a:srgbClr val="333333"/>
                </a:solidFill>
                <a:latin typeface="Calibri"/>
              </a:rPr>
              <a:t>AI fix suggestions in IDE?</a:t>
            </a:r>
          </a:p>
        </p:txBody>
      </p:sp>
      <p:sp>
        <p:nvSpPr>
          <p:cNvPr id="27" name="R7C1"/>
          <p:cNvSpPr/>
          <p:nvPr/>
        </p:nvSpPr>
        <p:spPr>
          <a:xfrm>
            <a:off x="3200400" y="2819400"/>
            <a:ext cx="2743200" cy="304800"/>
          </a:xfrm>
          <a:prstGeom prst="rect">
            <a:avLst/>
          </a:prstGeom>
          <a:solidFill>
            <a:srgbClr val="D4EDDA"/>
          </a:solidFill>
          <a:ln w="6350">
            <a:solidFill>
              <a:srgbClr val="DEE2E6"/>
            </a:solidFill>
          </a:ln>
        </p:spPr>
        <p:txBody>
          <a:bodyPr wrap="square" lIns="91440" tIns="45720" anchor="ctr"/>
          <a:lstStyle/>
          <a:p>
            <a:pPr algn="ctr"/>
            <a:r>
              <a:rPr lang="en-US" sz="1050" b="0">
                <a:solidFill>
                  <a:srgbClr val="155724"/>
                </a:solidFill>
                <a:latin typeface="Calibri"/>
              </a:rPr>
              <a:t>✔ Yes — Fix in IDE (VS Code + IntelliJ)</a:t>
            </a:r>
          </a:p>
        </p:txBody>
      </p:sp>
      <p:sp>
        <p:nvSpPr>
          <p:cNvPr id="28" name="R7C2"/>
          <p:cNvSpPr/>
          <p:nvPr/>
        </p:nvSpPr>
        <p:spPr>
          <a:xfrm>
            <a:off x="6096000" y="2819400"/>
            <a:ext cx="2895600" cy="304800"/>
          </a:xfrm>
          <a:prstGeom prst="rect">
            <a:avLst/>
          </a:prstGeom>
          <a:solidFill>
            <a:srgbClr val="D4EDDA"/>
          </a:solidFill>
          <a:ln w="6350">
            <a:solidFill>
              <a:srgbClr val="DEE2E6"/>
            </a:solidFill>
          </a:ln>
        </p:spPr>
        <p:txBody>
          <a:bodyPr wrap="square" lIns="91440" tIns="45720" anchor="ctr"/>
          <a:lstStyle/>
          <a:p>
            <a:pPr algn="ctr"/>
            <a:r>
              <a:rPr lang="en-US" sz="1050" b="0">
                <a:solidFill>
                  <a:srgbClr val="155724"/>
                </a:solidFill>
                <a:latin typeface="Calibri"/>
              </a:rPr>
              <a:t>✔ Yes — Generate AI Fix button (VS Code + IntelliJ)</a:t>
            </a:r>
          </a:p>
        </p:txBody>
      </p:sp>
      <p:sp>
        <p:nvSpPr>
          <p:cNvPr id="29" name="R8C0"/>
          <p:cNvSpPr/>
          <p:nvPr/>
        </p:nvSpPr>
        <p:spPr>
          <a:xfrm>
            <a:off x="457200" y="3124200"/>
            <a:ext cx="259080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txBody>
          <a:bodyPr wrap="square" lIns="91440" tIns="45720" anchor="ctr"/>
          <a:lstStyle/>
          <a:p>
            <a:r>
              <a:rPr lang="en-US" sz="1050" b="1">
                <a:solidFill>
                  <a:srgbClr val="333333"/>
                </a:solidFill>
                <a:latin typeface="Calibri"/>
              </a:rPr>
              <a:t>Engineering metrics / DORA?</a:t>
            </a:r>
          </a:p>
        </p:txBody>
      </p:sp>
      <p:sp>
        <p:nvSpPr>
          <p:cNvPr id="30" name="R8C1"/>
          <p:cNvSpPr/>
          <p:nvPr/>
        </p:nvSpPr>
        <p:spPr>
          <a:xfrm>
            <a:off x="3200400" y="3124200"/>
            <a:ext cx="2743200" cy="304800"/>
          </a:xfrm>
          <a:prstGeom prst="rect">
            <a:avLst/>
          </a:prstGeom>
          <a:solidFill>
            <a:srgbClr val="D4EDDA"/>
          </a:solidFill>
          <a:ln w="6350">
            <a:solidFill>
              <a:srgbClr val="DEE2E6"/>
            </a:solidFill>
          </a:ln>
        </p:spPr>
        <p:txBody>
          <a:bodyPr wrap="square" lIns="91440" tIns="45720" anchor="ctr"/>
          <a:lstStyle/>
          <a:p>
            <a:pPr algn="ctr"/>
            <a:r>
              <a:rPr lang="en-US" sz="1050" b="0">
                <a:solidFill>
                  <a:srgbClr val="155724"/>
                </a:solidFill>
                <a:latin typeface="Calibri"/>
              </a:rPr>
              <a:t>✔ Yes — Full DORA dashboard built-in</a:t>
            </a:r>
          </a:p>
        </p:txBody>
      </p:sp>
      <p:sp>
        <p:nvSpPr>
          <p:cNvPr id="31" name="R8C2"/>
          <p:cNvSpPr/>
          <p:nvPr/>
        </p:nvSpPr>
        <p:spPr>
          <a:xfrm>
            <a:off x="6096000" y="3124200"/>
            <a:ext cx="2895600" cy="30480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txBody>
          <a:bodyPr wrap="square" lIns="91440" tIns="45720" anchor="ctr"/>
          <a:lstStyle/>
          <a:p>
            <a:pPr algn="ctr"/>
            <a:r>
              <a:rPr lang="en-US" sz="1050" b="0">
                <a:solidFill>
                  <a:srgbClr val="555555"/>
                </a:solidFill>
                <a:latin typeface="Calibri"/>
              </a:rPr>
              <a:t>➖ Not included — Use Azure DevOps analytics</a:t>
            </a:r>
          </a:p>
        </p:txBody>
      </p:sp>
      <p:sp>
        <p:nvSpPr>
          <p:cNvPr id="32" name="R9C0"/>
          <p:cNvSpPr/>
          <p:nvPr/>
        </p:nvSpPr>
        <p:spPr>
          <a:xfrm>
            <a:off x="457200" y="3429000"/>
            <a:ext cx="2590800" cy="30480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txBody>
          <a:bodyPr wrap="square" lIns="91440" tIns="45720" anchor="ctr"/>
          <a:lstStyle/>
          <a:p>
            <a:r>
              <a:rPr lang="en-US" sz="1050" b="1">
                <a:solidFill>
                  <a:srgbClr val="333333"/>
                </a:solidFill>
                <a:latin typeface="Calibri"/>
              </a:rPr>
              <a:t>Implementation time?</a:t>
            </a:r>
          </a:p>
        </p:txBody>
      </p:sp>
      <p:sp>
        <p:nvSpPr>
          <p:cNvPr id="33" name="R9C1"/>
          <p:cNvSpPr/>
          <p:nvPr/>
        </p:nvSpPr>
        <p:spPr>
          <a:xfrm>
            <a:off x="3200400" y="3429000"/>
            <a:ext cx="2743200" cy="304800"/>
          </a:xfrm>
          <a:prstGeom prst="rect">
            <a:avLst/>
          </a:prstGeom>
          <a:solidFill>
            <a:srgbClr val="FFF3CD"/>
          </a:solidFill>
          <a:ln w="6350">
            <a:solidFill>
              <a:srgbClr val="DEE2E6"/>
            </a:solidFill>
          </a:ln>
        </p:spPr>
        <p:txBody>
          <a:bodyPr wrap="square" lIns="91440" tIns="45720" anchor="ctr"/>
          <a:lstStyle/>
          <a:p>
            <a:pPr algn="ctr"/>
            <a:r>
              <a:rPr lang="en-US" sz="1050" b="0">
                <a:solidFill>
                  <a:srgbClr val="856404"/>
                </a:solidFill>
                <a:latin typeface="Calibri"/>
              </a:rPr>
              <a:t>⚠ 2–4 weeks — Procurement + deployment setup</a:t>
            </a:r>
          </a:p>
        </p:txBody>
      </p:sp>
      <p:sp>
        <p:nvSpPr>
          <p:cNvPr id="34" name="R9C2"/>
          <p:cNvSpPr/>
          <p:nvPr/>
        </p:nvSpPr>
        <p:spPr>
          <a:xfrm>
            <a:off x="6096000" y="3429000"/>
            <a:ext cx="2895600" cy="304800"/>
          </a:xfrm>
          <a:prstGeom prst="rect">
            <a:avLst/>
          </a:prstGeom>
          <a:solidFill>
            <a:srgbClr val="D4EDDA"/>
          </a:solidFill>
          <a:ln w="6350">
            <a:solidFill>
              <a:srgbClr val="DEE2E6"/>
            </a:solidFill>
          </a:ln>
        </p:spPr>
        <p:txBody>
          <a:bodyPr wrap="square" lIns="91440" tIns="45720" anchor="ctr"/>
          <a:lstStyle/>
          <a:p>
            <a:pPr algn="ctr"/>
            <a:r>
              <a:rPr lang="en-US" sz="1050" b="0">
                <a:solidFill>
                  <a:srgbClr val="155724"/>
                </a:solidFill>
                <a:latin typeface="Calibri"/>
              </a:rPr>
              <a:t>✔ Days — Configuration change only</a:t>
            </a:r>
          </a:p>
        </p:txBody>
      </p:sp>
      <p:sp>
        <p:nvSpPr>
          <p:cNvPr id="35" name="Rec"/>
          <p:cNvSpPr/>
          <p:nvPr/>
        </p:nvSpPr>
        <p:spPr>
          <a:xfrm>
            <a:off x="457200" y="3810600"/>
            <a:ext cx="8534400" cy="381000"/>
          </a:xfrm>
          <a:prstGeom prst="rect">
            <a:avLst/>
          </a:prstGeom>
          <a:solidFill>
            <a:srgbClr val="00567D"/>
          </a:solidFill>
          <a:ln>
            <a:solidFill>
              <a:srgbClr val="00567D"/>
            </a:solidFill>
          </a:ln>
        </p:spPr>
        <p:txBody>
          <a:bodyPr wrap="square" lIns="91440" tIns="45720" anchor="ctr"/>
          <a:lstStyle/>
          <a:p>
            <a:r>
              <a:rPr lang="en-US" sz="1100" b="1">
                <a:solidFill>
                  <a:srgbClr val="FFFFFF"/>
                </a:solidFill>
                <a:latin typeface="Calibri"/>
              </a:rPr>
              <a:t>🎯 Recommendation: Phase 1 — Enable SonarQube AI CodeFix now (zero friction, days to deploy). Phase 2 — Pilot CodeAnt for AI-native PR review and DORA metrics.</a:t>
            </a:r>
          </a:p>
        </p:txBody>
      </p:sp>
      <p:sp>
        <p:nvSpPr>
          <p:cNvPr id="36" name="Ftr"/>
          <p:cNvSpPr/>
          <p:nvPr/>
        </p:nvSpPr>
        <p:spPr>
          <a:xfrm>
            <a:off x="0" y="4877040"/>
            <a:ext cx="9144000" cy="266460"/>
          </a:xfrm>
          <a:prstGeom prst="rect">
            <a:avLst/>
          </a:prstGeom>
          <a:solidFill>
            <a:srgbClr val="00567D"/>
          </a:solidFill>
          <a:ln>
            <a:solidFill>
              <a:srgbClr val="00567D"/>
            </a:solidFill>
          </a:ln>
        </p:spPr>
        <p:txBody>
          <a:bodyPr wrap="square" anchor="ctr"/>
          <a:lstStyle/>
          <a:p>
            <a:pPr algn="r"/>
            <a:r>
              <a:rPr lang="en-US" sz="900" b="0">
                <a:solidFill>
                  <a:srgbClr val="FFFFFF"/>
                </a:solidFill>
                <a:latin typeface="Calibri"/>
              </a:rPr>
              <a:t>Dubai Health — Internal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7ACC"/>
          </a:solidFill>
          <a:ln>
            <a:solidFill>
              <a:srgbClr val="007ACC"/>
            </a:solidFill>
          </a:ln>
        </p:spPr>
        <p:txBody>
          <a:bodyPr wrap="square" lIns="91440" anchor="ctr"/>
          <a:lstStyle/>
          <a:p>
            <a:r>
              <a:rPr lang="en-US" sz="1200" b="1">
                <a:solidFill>
                  <a:srgbClr val="FFFFFF"/>
                </a:solidFill>
                <a:latin typeface="Calibri"/>
              </a:rPr>
              <a:t>SonarQube AI CodeFix — Developer Experience in VS Code (Connected Mode)</a:t>
            </a:r>
          </a:p>
        </p:txBody>
      </p:sp>
      <p:sp>
        <p:nvSpPr>
          <p:cNvPr id="3" name="DH"/>
          <p:cNvSpPr/>
          <p:nvPr/>
        </p:nvSpPr>
        <p:spPr>
          <a:xfrm>
            <a:off x="7315200" y="91440"/>
            <a:ext cx="16764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r"/>
            <a:r>
              <a:rPr lang="en-US" sz="1100" b="1">
                <a:solidFill>
                  <a:srgbClr val="FFFFFF"/>
                </a:solidFill>
                <a:latin typeface="Calibri"/>
              </a:rPr>
              <a:t>Dubai Health</a:t>
            </a:r>
          </a:p>
        </p:txBody>
      </p:sp>
      <p:sp>
        <p:nvSpPr>
          <p:cNvPr id="4" name="LeftPanel"/>
          <p:cNvSpPr/>
          <p:nvPr/>
        </p:nvSpPr>
        <p:spPr>
          <a:xfrm>
            <a:off x="0" y="457200"/>
            <a:ext cx="2286000" cy="3810000"/>
          </a:xfrm>
          <a:prstGeom prst="rect">
            <a:avLst/>
          </a:prstGeom>
          <a:solidFill>
            <a:srgbClr val="252526"/>
          </a:solidFill>
          <a:ln>
            <a:solidFill>
              <a:srgbClr val="3C3C3C"/>
            </a:solidFill>
          </a:ln>
        </p:spPr>
        <p:txBody>
          <a:bodyPr wrap="square" lIns="91440" tIns="91440" rIns="45720" bIns="91440" anchor="t"/>
          <a:lstStyle/>
          <a:p>
            <a:r>
              <a:rPr lang="en-US" sz="850" b="1">
                <a:solidFill>
                  <a:srgbClr val="BBBBBB"/>
                </a:solidFill>
                <a:latin typeface="Consolas"/>
              </a:rPr>
              <a:t>SONARQUBE ISSUES (3)</a:t>
            </a:r>
          </a:p>
          <a:p>
            <a:r>
              <a:rPr lang="en-US" sz="800" b="0">
                <a:solidFill>
                  <a:srgbClr val="444444"/>
                </a:solidFill>
                <a:latin typeface="Consolas"/>
              </a:rPr>
              <a:t>──────────────────</a:t>
            </a:r>
          </a:p>
          <a:p>
            <a:r>
              <a:rPr lang="en-US" sz="900" b="0">
                <a:solidFill>
                  <a:srgbClr val="F44747"/>
                </a:solidFill>
                <a:latin typeface="Consolas"/>
              </a:rPr>
              <a:t>✘ HIGH ✨</a:t>
            </a:r>
          </a:p>
          <a:p>
            <a:r>
              <a:rPr lang="en-US" sz="880" b="0">
                <a:solidFill>
                  <a:srgbClr val="CCCCCC"/>
                </a:solidFill>
                <a:latin typeface="Consolas"/>
              </a:rPr>
              <a:t>SQL Injection</a:t>
            </a:r>
          </a:p>
          <a:p>
            <a:r>
              <a:rPr lang="en-US" sz="800" b="0">
                <a:solidFill>
                  <a:srgbClr val="777777"/>
                </a:solidFill>
                <a:latin typeface="Consolas"/>
              </a:rPr>
              <a:t>HomeController.cs:37</a:t>
            </a:r>
          </a:p>
          <a:p>
            <a:r>
              <a:rPr lang="en-US" sz="800" b="0">
                <a:solidFill>
                  <a:srgbClr val="333333"/>
                </a:solidFill>
                <a:latin typeface="Consolas"/>
              </a:rPr>
              <a:t>──────────────────</a:t>
            </a:r>
          </a:p>
          <a:p>
            <a:r>
              <a:rPr lang="en-US" sz="900" b="0">
                <a:solidFill>
                  <a:srgbClr val="F44747"/>
                </a:solidFill>
                <a:latin typeface="Consolas"/>
              </a:rPr>
              <a:t>✘ HIGH ✨</a:t>
            </a:r>
          </a:p>
          <a:p>
            <a:r>
              <a:rPr lang="en-US" sz="880" b="0">
                <a:solidFill>
                  <a:srgbClr val="CCCCCC"/>
                </a:solidFill>
                <a:latin typeface="Consolas"/>
              </a:rPr>
              <a:t>Hardcoded Secret</a:t>
            </a:r>
          </a:p>
          <a:p>
            <a:r>
              <a:rPr lang="en-US" sz="800" b="0">
                <a:solidFill>
                  <a:srgbClr val="777777"/>
                </a:solidFill>
                <a:latin typeface="Consolas"/>
              </a:rPr>
              <a:t>appsettings.json:8</a:t>
            </a:r>
          </a:p>
          <a:p>
            <a:r>
              <a:rPr lang="en-US" sz="800" b="0">
                <a:solidFill>
                  <a:srgbClr val="333333"/>
                </a:solidFill>
                <a:latin typeface="Consolas"/>
              </a:rPr>
              <a:t>──────────────────</a:t>
            </a:r>
          </a:p>
          <a:p>
            <a:r>
              <a:rPr lang="en-US" sz="900" b="0">
                <a:solidFill>
                  <a:srgbClr val="CCA700"/>
                </a:solidFill>
                <a:latin typeface="Consolas"/>
              </a:rPr>
              <a:t>⚠ MED ✨</a:t>
            </a:r>
          </a:p>
          <a:p>
            <a:r>
              <a:rPr lang="en-US" sz="880" b="0">
                <a:solidFill>
                  <a:srgbClr val="CCCCCC"/>
                </a:solidFill>
                <a:latin typeface="Consolas"/>
              </a:rPr>
              <a:t>Missing [Authorize]</a:t>
            </a:r>
          </a:p>
          <a:p>
            <a:r>
              <a:rPr lang="en-US" sz="800" b="0">
                <a:solidFill>
                  <a:srgbClr val="777777"/>
                </a:solidFill>
                <a:latin typeface="Consolas"/>
              </a:rPr>
              <a:t>HomeController.cs:75</a:t>
            </a:r>
          </a:p>
          <a:p>
            <a:r>
              <a:rPr lang="en-US" sz="800" b="0">
                <a:solidFill>
                  <a:srgbClr val="333333"/>
                </a:solidFill>
                <a:latin typeface="Consolas"/>
              </a:rPr>
              <a:t>──────────────────</a:t>
            </a:r>
          </a:p>
          <a:p>
            <a:r>
              <a:rPr lang="en-US" sz="800" b="0" i="1">
                <a:solidFill>
                  <a:srgbClr val="555555"/>
                </a:solidFill>
                <a:latin typeface="Calibri"/>
              </a:rPr>
              <a:t>✨ = AI CodeFix available</a:t>
            </a:r>
          </a:p>
        </p:txBody>
      </p:sp>
      <p:sp>
        <p:nvSpPr>
          <p:cNvPr id="5" name="CodePanel"/>
          <p:cNvSpPr/>
          <p:nvPr/>
        </p:nvSpPr>
        <p:spPr>
          <a:xfrm>
            <a:off x="2286000" y="457200"/>
            <a:ext cx="4267200" cy="3810000"/>
          </a:xfrm>
          <a:prstGeom prst="rect">
            <a:avLst/>
          </a:prstGeom>
          <a:solidFill>
            <a:srgbClr val="1E1E1E"/>
          </a:solidFill>
          <a:ln>
            <a:solidFill>
              <a:srgbClr val="3C3C3C"/>
            </a:solidFill>
          </a:ln>
        </p:spPr>
        <p:txBody>
          <a:bodyPr wrap="square" lIns="91440" tIns="91440" rIns="91440" bIns="91440" anchor="t"/>
          <a:lstStyle/>
          <a:p>
            <a:r>
              <a:rPr lang="en-US" sz="800" b="0">
                <a:solidFill>
                  <a:srgbClr val="6A9955"/>
                </a:solidFill>
                <a:latin typeface="Consolas"/>
              </a:rPr>
              <a:t>// HomeController.cs  line 35-42</a:t>
            </a:r>
          </a:p>
          <a:p>
            <a:r>
              <a:rPr lang="en-US" sz="800" b="0">
                <a:solidFill>
                  <a:srgbClr val="444444"/>
                </a:solidFill>
                <a:latin typeface="Consolas"/>
              </a:rPr>
              <a:t/>
            </a:r>
          </a:p>
          <a:p>
            <a:r>
              <a:rPr lang="en-US" sz="800" b="0">
                <a:solidFill>
                  <a:srgbClr val="CCCCCC"/>
                </a:solidFill>
                <a:latin typeface="Consolas"/>
              </a:rPr>
              <a:t>[HttpGet]</a:t>
            </a:r>
          </a:p>
          <a:p>
            <a:r>
              <a:rPr lang="en-US" sz="800" b="0">
                <a:solidFill>
                  <a:srgbClr val="569CD6"/>
                </a:solidFill>
                <a:latin typeface="Consolas"/>
              </a:rPr>
              <a:t xml:space="preserve">public </a:t>
            </a:r>
            <a:r>
              <a:rPr lang="en-US" sz="800" b="0">
                <a:solidFill>
                  <a:srgbClr val="4EC9B0"/>
                </a:solidFill>
                <a:latin typeface="Consolas"/>
              </a:rPr>
              <a:t xml:space="preserve">IActionResult </a:t>
            </a:r>
            <a:r>
              <a:rPr lang="en-US" sz="800" b="0">
                <a:solidFill>
                  <a:srgbClr val="DCDCAA"/>
                </a:solidFill>
                <a:latin typeface="Consolas"/>
              </a:rPr>
              <a:t>SearchPatient</a:t>
            </a:r>
            <a:r>
              <a:rPr lang="en-US" sz="800" b="0">
                <a:solidFill>
                  <a:srgbClr val="CCCCCC"/>
                </a:solidFill>
                <a:latin typeface="Consolas"/>
              </a:rPr>
              <a:t>(string name) {</a:t>
            </a:r>
          </a:p>
          <a:p>
            <a:r>
              <a:rPr lang="en-US" sz="800" b="0">
                <a:solidFill>
                  <a:srgbClr val="444444"/>
                </a:solidFill>
                <a:latin typeface="Consolas"/>
              </a:rPr>
              <a:t/>
            </a:r>
          </a:p>
          <a:p>
            <a:r>
              <a:rPr lang="en-US" sz="850" b="1">
                <a:solidFill>
                  <a:srgbClr val="23D18B"/>
                </a:solidFill>
                <a:latin typeface="Consolas"/>
              </a:rPr>
              <a:t>REFACTOR PREVIEW ✨</a:t>
            </a:r>
          </a:p>
          <a:p>
            <a:r>
              <a:rPr lang="en-US" sz="800" b="0">
                <a:solidFill>
                  <a:srgbClr val="F14C4C"/>
                </a:solidFill>
                <a:latin typeface="Consolas"/>
              </a:rPr>
              <a:t>- var q = "SELECT * FROM Patients"</a:t>
            </a:r>
          </a:p>
          <a:p>
            <a:r>
              <a:rPr lang="en-US" sz="800" b="0">
                <a:solidFill>
                  <a:srgbClr val="F14C4C"/>
                </a:solidFill>
                <a:latin typeface="Consolas"/>
              </a:rPr>
              <a:t>-   + " WHERE Name='" + name + "'";</a:t>
            </a:r>
          </a:p>
          <a:p>
            <a:r>
              <a:rPr lang="en-US" sz="800" b="0">
                <a:solidFill>
                  <a:srgbClr val="23D18B"/>
                </a:solidFill>
                <a:latin typeface="Consolas"/>
              </a:rPr>
              <a:t>+ var q = "SELECT * FROM Patients</a:t>
            </a:r>
          </a:p>
          <a:p>
            <a:r>
              <a:rPr lang="en-US" sz="800" b="0">
                <a:solidFill>
                  <a:srgbClr val="23D18B"/>
                </a:solidFill>
                <a:latin typeface="Consolas"/>
              </a:rPr>
              <a:t>+         WHERE Name = @name";</a:t>
            </a:r>
          </a:p>
          <a:p>
            <a:r>
              <a:rPr lang="en-US" sz="800" b="0">
                <a:solidFill>
                  <a:srgbClr val="23D18B"/>
                </a:solidFill>
                <a:latin typeface="Consolas"/>
              </a:rPr>
              <a:t>+ cmd.Parameters.AddWithValue(</a:t>
            </a:r>
          </a:p>
          <a:p>
            <a:r>
              <a:rPr lang="en-US" sz="800" b="0">
                <a:solidFill>
                  <a:srgbClr val="23D18B"/>
                </a:solidFill>
                <a:latin typeface="Consolas"/>
              </a:rPr>
              <a:t>+     "@name", name);</a:t>
            </a:r>
          </a:p>
          <a:p>
            <a:r>
              <a:rPr lang="en-US" sz="800" b="0">
                <a:solidFill>
                  <a:srgbClr val="444444"/>
                </a:solidFill>
                <a:latin typeface="Consolas"/>
              </a:rPr>
              <a:t/>
            </a:r>
          </a:p>
          <a:p>
            <a:r>
              <a:rPr lang="en-US" sz="1000" b="1">
                <a:solidFill>
                  <a:srgbClr val="007ACC"/>
                </a:solidFill>
                <a:latin typeface="Calibri"/>
              </a:rPr>
              <a:t>[ ✔ Apply ]    [ ✘ Discard ]</a:t>
            </a:r>
          </a:p>
        </p:txBody>
      </p:sp>
      <p:sp>
        <p:nvSpPr>
          <p:cNvPr id="6" name="RulePanel"/>
          <p:cNvSpPr/>
          <p:nvPr/>
        </p:nvSpPr>
        <p:spPr>
          <a:xfrm>
            <a:off x="6553200" y="457200"/>
            <a:ext cx="2590800" cy="3810000"/>
          </a:xfrm>
          <a:prstGeom prst="rect">
            <a:avLst/>
          </a:prstGeom>
          <a:solidFill>
            <a:srgbClr val="252526"/>
          </a:solidFill>
          <a:ln>
            <a:solidFill>
              <a:srgbClr val="3C3C3C"/>
            </a:solidFill>
          </a:ln>
        </p:spPr>
        <p:txBody>
          <a:bodyPr wrap="square" lIns="91440" tIns="91440" rIns="91440" bIns="91440" anchor="t"/>
          <a:lstStyle/>
          <a:p>
            <a:r>
              <a:rPr lang="en-US" sz="850" b="1">
                <a:solidFill>
                  <a:srgbClr val="BBBBBB"/>
                </a:solidFill>
                <a:latin typeface="Calibri"/>
              </a:rPr>
              <a:t>RULE  |  AI CODEFIX ✨</a:t>
            </a:r>
          </a:p>
          <a:p>
            <a:r>
              <a:rPr lang="en-US" sz="800" b="0">
                <a:solidFill>
                  <a:srgbClr val="444444"/>
                </a:solidFill>
                <a:latin typeface="Consolas"/>
              </a:rPr>
              <a:t>────────────────</a:t>
            </a:r>
          </a:p>
          <a:p>
            <a:r>
              <a:rPr lang="en-US" sz="900" b="1">
                <a:solidFill>
                  <a:srgbClr val="F44747"/>
                </a:solidFill>
                <a:latin typeface="Consolas"/>
              </a:rPr>
              <a:t>csharpsquid:S3649</a:t>
            </a:r>
          </a:p>
          <a:p>
            <a:r>
              <a:rPr lang="en-US" sz="850" b="1">
                <a:solidFill>
                  <a:srgbClr val="CCCCCC"/>
                </a:solidFill>
                <a:latin typeface="Calibri"/>
              </a:rPr>
              <a:t>SQL Injection Risk</a:t>
            </a:r>
          </a:p>
          <a:p>
            <a:r>
              <a:rPr lang="en-US" sz="800" b="0">
                <a:solidFill>
                  <a:srgbClr val="888888"/>
                </a:solidFill>
                <a:latin typeface="Calibri"/>
              </a:rPr>
              <a:t>Severity: HIGH | Security</a:t>
            </a:r>
          </a:p>
          <a:p>
            <a:r>
              <a:rPr lang="en-US" sz="800" b="0">
                <a:solidFill>
                  <a:srgbClr val="444444"/>
                </a:solidFill>
                <a:latin typeface="Consolas"/>
              </a:rPr>
              <a:t/>
            </a:r>
          </a:p>
          <a:p>
            <a:r>
              <a:rPr lang="en-US" sz="800" b="0">
                <a:solidFill>
                  <a:srgbClr val="AAAAAA"/>
                </a:solidFill>
                <a:latin typeface="Calibri"/>
              </a:rPr>
              <a:t>SQL query built using string concatenation with user input. Replace with parameterized query to prevent injection attacks.</a:t>
            </a:r>
          </a:p>
          <a:p>
            <a:r>
              <a:rPr lang="en-US" sz="800" b="0">
                <a:solidFill>
                  <a:srgbClr val="444444"/>
                </a:solidFill>
                <a:latin typeface="Consolas"/>
              </a:rPr>
              <a:t/>
            </a:r>
          </a:p>
          <a:p>
            <a:r>
              <a:rPr lang="en-US" sz="800" b="0">
                <a:solidFill>
                  <a:srgbClr val="444444"/>
                </a:solidFill>
                <a:latin typeface="Consolas"/>
              </a:rPr>
              <a:t>────────────────</a:t>
            </a:r>
          </a:p>
          <a:p>
            <a:r>
              <a:rPr lang="en-US" sz="1050" b="1">
                <a:solidFill>
                  <a:srgbClr val="007ACC"/>
                </a:solidFill>
                <a:latin typeface="Calibri"/>
              </a:rPr>
              <a:t>[ ✨ Generate Fix ]</a:t>
            </a:r>
          </a:p>
          <a:p>
            <a:r>
              <a:rPr lang="en-US" sz="800" b="0">
                <a:solidFill>
                  <a:srgbClr val="444444"/>
                </a:solidFill>
                <a:latin typeface="Consolas"/>
              </a:rPr>
              <a:t/>
            </a:r>
          </a:p>
          <a:p>
            <a:r>
              <a:rPr lang="en-US" sz="750" b="0" i="1">
                <a:solidFill>
                  <a:srgbClr val="555555"/>
                </a:solidFill>
                <a:latin typeface="Calibri"/>
              </a:rPr>
              <a:t>Using: DH Azure OpenAI sonar-demo-openai codefix-model (GPT-4.1)</a:t>
            </a:r>
          </a:p>
          <a:p>
            <a:r>
              <a:rPr lang="en-US" sz="750" b="0" i="1">
                <a:solidFill>
                  <a:srgbClr val="23D18B"/>
                </a:solidFill>
                <a:latin typeface="Calibri"/>
              </a:rPr>
              <a:t>Code stays in DH network ✔</a:t>
            </a:r>
          </a:p>
        </p:txBody>
      </p:sp>
      <p:sp>
        <p:nvSpPr>
          <p:cNvPr id="7" name="StatusBar"/>
          <p:cNvSpPr/>
          <p:nvPr/>
        </p:nvSpPr>
        <p:spPr>
          <a:xfrm>
            <a:off x="0" y="4267200"/>
            <a:ext cx="9144000" cy="228600"/>
          </a:xfrm>
          <a:prstGeom prst="rect">
            <a:avLst/>
          </a:prstGeom>
          <a:solidFill>
            <a:srgbClr val="007ACC"/>
          </a:solidFill>
          <a:ln>
            <a:solidFill>
              <a:srgbClr val="007ACC"/>
            </a:solidFill>
          </a:ln>
        </p:spPr>
        <p:txBody>
          <a:bodyPr wrap="square" lIns="91440" anchor="ctr"/>
          <a:lstStyle/>
          <a:p>
            <a:r>
              <a:rPr lang="en-US" sz="750" b="0">
                <a:solidFill>
                  <a:srgbClr val="FFFFFF"/>
                </a:solidFill>
                <a:latin typeface="Consolas"/>
              </a:rPr>
              <a:t>✓ SonarQube Connected: DH SonarQube Enterprise  |  LLM: sonar-demo-openai / codefix-model  |  C#  |  Ln 37</a:t>
            </a:r>
          </a:p>
        </p:txBody>
      </p:sp>
      <p:sp>
        <p:nvSpPr>
          <p:cNvPr id="8" name="Caption"/>
          <p:cNvSpPr/>
          <p:nvPr/>
        </p:nvSpPr>
        <p:spPr>
          <a:xfrm>
            <a:off x="0" y="4495800"/>
            <a:ext cx="9144000" cy="647640"/>
          </a:xfrm>
          <a:prstGeom prst="rect">
            <a:avLst/>
          </a:prstGeom>
          <a:solidFill>
            <a:srgbClr val="141414"/>
          </a:solidFill>
          <a:ln>
            <a:solidFill>
              <a:srgbClr val="141414"/>
            </a:solidFill>
          </a:ln>
        </p:spPr>
        <p:txBody>
          <a:bodyPr wrap="square" lIns="91440" tIns="91440" rIns="91440" bIns="91440" anchor="ctr"/>
          <a:lstStyle/>
          <a:p>
            <a:pPr algn="ctr"/>
            <a:r>
              <a:rPr lang="en-US" sz="1050" b="1">
                <a:solidFill>
                  <a:srgbClr val="23D18B"/>
                </a:solidFill>
                <a:latin typeface="Calibri"/>
              </a:rPr>
              <a:t xml:space="preserve">Workflow: </a:t>
            </a:r>
            <a:r>
              <a:rPr lang="en-US" sz="1000" b="0">
                <a:solidFill>
                  <a:srgbClr val="AAAAAA"/>
                </a:solidFill>
                <a:latin typeface="Calibri"/>
              </a:rPr>
              <a:t>SonarQube flags issue in IDE → Developer clicks ✨ Generate Fix → Azure OpenAI generates parameterized query → Developer clicks Apply → Issue resolved. Code never left Dubai Health network.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7ACC"/>
          </a:solidFill>
          <a:ln>
            <a:solidFill>
              <a:srgbClr val="007ACC"/>
            </a:solidFill>
          </a:ln>
        </p:spPr>
        <p:txBody>
          <a:bodyPr wrap="square" lIns="91440" anchor="ctr"/>
          <a:lstStyle/>
          <a:p>
            <a:r>
              <a:rPr lang="en-US" sz="1300" b="1">
                <a:solidFill>
                  <a:srgbClr val="FFFFFF"/>
                </a:solidFill>
                <a:latin typeface="Calibri"/>
              </a:rPr>
              <a:t>Advanced Architecture: Zero-Trust AI Security Gateway for Dubai Health</a:t>
            </a:r>
          </a:p>
        </p:txBody>
      </p:sp>
      <p:sp>
        <p:nvSpPr>
          <p:cNvPr id="3" name="DH"/>
          <p:cNvSpPr/>
          <p:nvPr/>
        </p:nvSpPr>
        <p:spPr>
          <a:xfrm>
            <a:off x="7620000" y="91440"/>
            <a:ext cx="1371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r"/>
            <a:r>
              <a:rPr lang="en-US" sz="1100" b="1">
                <a:solidFill>
                  <a:srgbClr val="FFFFFF"/>
                </a:solidFill>
                <a:latin typeface="Calibri"/>
              </a:rPr>
              <a:t>Dubai Health</a:t>
            </a:r>
          </a:p>
        </p:txBody>
      </p:sp>
      <p:sp>
        <p:nvSpPr>
          <p:cNvPr id="4" name="DevZoneLabel"/>
          <p:cNvSpPr/>
          <p:nvPr/>
        </p:nvSpPr>
        <p:spPr>
          <a:xfrm>
            <a:off x="457200" y="487680"/>
            <a:ext cx="1524000" cy="2286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txBody>
          <a:bodyPr wrap="square" anchor="ctr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Consolas"/>
              </a:rPr>
              <a:t>DEVELOPER ZONE</a:t>
            </a:r>
          </a:p>
        </p:txBody>
      </p:sp>
      <p:sp>
        <p:nvSpPr>
          <p:cNvPr id="5" name="DevBox"/>
          <p:cNvSpPr/>
          <p:nvPr/>
        </p:nvSpPr>
        <p:spPr>
          <a:xfrm>
            <a:off x="457200" y="716280"/>
            <a:ext cx="1524000" cy="609600"/>
          </a:xfrm>
          <a:prstGeom prst="rect">
            <a:avLst/>
          </a:prstGeom>
          <a:solidFill>
            <a:srgbClr val="161B22"/>
          </a:solidFill>
          <a:ln w="12700">
            <a:solidFill>
              <a:srgbClr val="1F6FEB"/>
            </a:solidFill>
          </a:ln>
        </p:spPr>
        <p:txBody>
          <a:bodyPr wrap="square" lIns="45720" tIns="45720" anchor="t"/>
          <a:lstStyle/>
          <a:p>
            <a:r>
              <a:rPr lang="en-US" sz="850" b="1">
                <a:solidFill>
                  <a:srgbClr val="58A6FF"/>
                </a:solidFill>
                <a:latin typeface="Consolas"/>
              </a:rPr>
              <a:t>💻 VS Code</a:t>
            </a:r>
          </a:p>
          <a:p>
            <a:r>
              <a:rPr lang="en-US" sz="750" b="0">
                <a:solidFill>
                  <a:srgbClr val="8B949E"/>
                </a:solidFill>
                <a:latin typeface="Consolas"/>
              </a:rPr>
              <a:t>SonarQube Extension</a:t>
            </a:r>
          </a:p>
          <a:p>
            <a:r>
              <a:rPr lang="en-US" sz="750" b="0">
                <a:solidFill>
                  <a:srgbClr val="8B949E"/>
                </a:solidFill>
                <a:latin typeface="Consolas"/>
              </a:rPr>
              <a:t>Connected Mode</a:t>
            </a:r>
          </a:p>
          <a:p>
            <a:r>
              <a:rPr lang="en-US" sz="750" b="0">
                <a:solidFill>
                  <a:srgbClr val="3FB950"/>
                </a:solidFill>
                <a:latin typeface="Consolas"/>
              </a:rPr>
              <a:t>Intune managed</a:t>
            </a:r>
          </a:p>
          <a:p>
            <a:r>
              <a:rPr lang="en-US" sz="750" b="0">
                <a:solidFill>
                  <a:srgbClr val="3FB950"/>
                </a:solidFill>
                <a:latin typeface="Consolas"/>
              </a:rPr>
              <a:t>No SQ token stored</a:t>
            </a:r>
          </a:p>
        </p:txBody>
      </p:sp>
      <p:sp>
        <p:nvSpPr>
          <p:cNvPr id="6" name="Arr1"/>
          <p:cNvSpPr/>
          <p:nvPr/>
        </p:nvSpPr>
        <p:spPr>
          <a:xfrm>
            <a:off x="2057400" y="914400"/>
            <a:ext cx="457200" cy="228600"/>
          </a:xfrm>
          <a:prstGeom prst="rightArrow">
            <a:avLst/>
          </a:prstGeom>
          <a:solidFill>
            <a:srgbClr val="F78166"/>
          </a:solidFill>
          <a:ln>
            <a:solidFill>
              <a:srgbClr val="F781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DMZLabel"/>
          <p:cNvSpPr/>
          <p:nvPr/>
        </p:nvSpPr>
        <p:spPr>
          <a:xfrm>
            <a:off x="2590800" y="487680"/>
            <a:ext cx="2743200" cy="228600"/>
          </a:xfrm>
          <a:prstGeom prst="rect">
            <a:avLst/>
          </a:prstGeom>
          <a:solidFill>
            <a:srgbClr val="DA3633"/>
          </a:solidFill>
          <a:ln>
            <a:solidFill>
              <a:srgbClr val="DA3633"/>
            </a:solidFill>
          </a:ln>
        </p:spPr>
        <p:txBody>
          <a:bodyPr wrap="square" anchor="ctr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Consolas"/>
              </a:rPr>
              <a:t>DMZ — ZERO TRUST GATEWAY</a:t>
            </a:r>
          </a:p>
        </p:txBody>
      </p:sp>
      <p:sp>
        <p:nvSpPr>
          <p:cNvPr id="8" name="WAF"/>
          <p:cNvSpPr/>
          <p:nvPr/>
        </p:nvSpPr>
        <p:spPr>
          <a:xfrm>
            <a:off x="2590800" y="716280"/>
            <a:ext cx="2743200" cy="304800"/>
          </a:xfrm>
          <a:prstGeom prst="rect">
            <a:avLst/>
          </a:prstGeom>
          <a:solidFill>
            <a:srgbClr val="161B22"/>
          </a:solidFill>
          <a:ln w="12700">
            <a:solidFill>
              <a:srgbClr val="DA3633"/>
            </a:solidFill>
          </a:ln>
        </p:spPr>
        <p:txBody>
          <a:bodyPr wrap="square" lIns="45720" tIns="45720" anchor="t"/>
          <a:lstStyle/>
          <a:p>
            <a:r>
              <a:rPr lang="en-US" sz="850" b="1">
                <a:solidFill>
                  <a:srgbClr val="F78166"/>
                </a:solidFill>
                <a:latin typeface="Consolas"/>
              </a:rPr>
              <a:t>🛡 WAF — Azure App Gateway</a:t>
            </a:r>
          </a:p>
          <a:p>
            <a:r>
              <a:rPr lang="en-US" sz="750" b="0">
                <a:solidFill>
                  <a:srgbClr val="8B949E"/>
                </a:solidFill>
                <a:latin typeface="Consolas"/>
              </a:rPr>
              <a:t>Rate limiting • TLS termination</a:t>
            </a:r>
          </a:p>
          <a:p>
            <a:r>
              <a:rPr lang="en-US" sz="750" b="0">
                <a:solidFill>
                  <a:srgbClr val="8B949E"/>
                </a:solidFill>
                <a:latin typeface="Consolas"/>
              </a:rPr>
              <a:t>OWASP rules • IP allowlist</a:t>
            </a:r>
          </a:p>
        </p:txBody>
      </p:sp>
      <p:sp>
        <p:nvSpPr>
          <p:cNvPr id="9" name="AIGateway"/>
          <p:cNvSpPr/>
          <p:nvPr/>
        </p:nvSpPr>
        <p:spPr>
          <a:xfrm>
            <a:off x="2590800" y="1066800"/>
            <a:ext cx="2743200" cy="609600"/>
          </a:xfrm>
          <a:prstGeom prst="rect">
            <a:avLst/>
          </a:prstGeom>
          <a:solidFill>
            <a:srgbClr val="161B22"/>
          </a:solidFill>
          <a:ln w="19050">
            <a:solidFill>
              <a:srgbClr val="DA3633"/>
            </a:solidFill>
          </a:ln>
        </p:spPr>
        <p:txBody>
          <a:bodyPr wrap="square" lIns="45720" tIns="45720" anchor="t"/>
          <a:lstStyle/>
          <a:p>
            <a:r>
              <a:rPr lang="en-US" sz="850" b="1">
                <a:solidFill>
                  <a:srgbClr val="F78166"/>
                </a:solidFill>
                <a:latin typeface="Consolas"/>
              </a:rPr>
              <a:t>🔒 AI SECURITY GATEWAY</a:t>
            </a:r>
          </a:p>
          <a:p>
            <a:r>
              <a:rPr lang="en-US" sz="800" b="0">
                <a:solidFill>
                  <a:srgbClr val="3FB950"/>
                </a:solidFill>
                <a:latin typeface="Consolas"/>
              </a:rPr>
              <a:t>✔ JWT Verify (Azure JWKS)</a:t>
            </a:r>
          </a:p>
          <a:p>
            <a:r>
              <a:rPr lang="en-US" sz="800" b="0">
                <a:solidFill>
                  <a:srgbClr val="3FB950"/>
                </a:solidFill>
                <a:latin typeface="Consolas"/>
              </a:rPr>
              <a:t>✔ RBAC engine (by AD claim)</a:t>
            </a:r>
          </a:p>
          <a:p>
            <a:r>
              <a:rPr lang="en-US" sz="800" b="0">
                <a:solidFill>
                  <a:srgbClr val="3FB950"/>
                </a:solidFill>
                <a:latin typeface="Consolas"/>
              </a:rPr>
              <a:t>✔ DLP Engine (regex + ML)</a:t>
            </a:r>
          </a:p>
          <a:p>
            <a:r>
              <a:rPr lang="en-US" sz="800" b="0">
                <a:solidFill>
                  <a:srgbClr val="3FB950"/>
                </a:solidFill>
                <a:latin typeface="Consolas"/>
              </a:rPr>
              <a:t>✔ Audit log → Sentinel</a:t>
            </a:r>
          </a:p>
          <a:p>
            <a:r>
              <a:rPr lang="en-US" sz="750" b="0">
                <a:solidFill>
                  <a:srgbClr val="8B949E"/>
                </a:solidFill>
                <a:latin typeface="Consolas"/>
              </a:rPr>
              <a:t>Azure Container Apps (UAE North)</a:t>
            </a:r>
          </a:p>
        </p:txBody>
      </p:sp>
      <p:sp>
        <p:nvSpPr>
          <p:cNvPr id="10" name="TrustBoundary"/>
          <p:cNvSpPr/>
          <p:nvPr/>
        </p:nvSpPr>
        <p:spPr>
          <a:xfrm>
            <a:off x="5486400" y="762000"/>
            <a:ext cx="228600" cy="1143000"/>
          </a:xfrm>
          <a:prstGeom prst="rect">
            <a:avLst/>
          </a:prstGeom>
          <a:solidFill>
            <a:srgbClr val="F0E68C"/>
          </a:solidFill>
          <a:ln>
            <a:solidFill>
              <a:srgbClr val="F0E68C"/>
            </a:solidFill>
          </a:ln>
        </p:spPr>
        <p:txBody>
          <a:bodyPr wrap="square" anchor="ctr"/>
          <a:lstStyle/>
          <a:p>
            <a:pPr algn="ctr"/>
            <a:r>
              <a:rPr lang="en-US" sz="700" b="1">
                <a:solidFill>
                  <a:srgbClr val="0D1117"/>
                </a:solidFill>
                <a:latin typeface="Consolas"/>
              </a:rPr>
              <a:t>TRUST BOUNDARY</a:t>
            </a:r>
          </a:p>
        </p:txBody>
      </p:sp>
      <p:sp>
        <p:nvSpPr>
          <p:cNvPr id="11" name="Arr2"/>
          <p:cNvSpPr/>
          <p:nvPr/>
        </p:nvSpPr>
        <p:spPr>
          <a:xfrm>
            <a:off x="5486400" y="914400"/>
            <a:ext cx="457200" cy="228600"/>
          </a:xfrm>
          <a:prstGeom prst="rightArrow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TrustedLabel"/>
          <p:cNvSpPr/>
          <p:nvPr/>
        </p:nvSpPr>
        <p:spPr>
          <a:xfrm>
            <a:off x="6019800" y="487680"/>
            <a:ext cx="2971800" cy="228600"/>
          </a:xfrm>
          <a:prstGeom prst="rect">
            <a:avLst/>
          </a:prstGeom>
          <a:solidFill>
            <a:srgbClr val="238636"/>
          </a:solidFill>
          <a:ln>
            <a:solidFill>
              <a:srgbClr val="238636"/>
            </a:solidFill>
          </a:ln>
        </p:spPr>
        <p:txBody>
          <a:bodyPr wrap="square" anchor="ctr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Consolas"/>
              </a:rPr>
              <a:t>TRUSTED ZONE — Private VNet (UAE North)</a:t>
            </a:r>
          </a:p>
        </p:txBody>
      </p:sp>
      <p:sp>
        <p:nvSpPr>
          <p:cNvPr id="13" name="SonarBox"/>
          <p:cNvSpPr/>
          <p:nvPr/>
        </p:nvSpPr>
        <p:spPr>
          <a:xfrm>
            <a:off x="6019800" y="716280"/>
            <a:ext cx="137160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238636"/>
            </a:solidFill>
          </a:ln>
        </p:spPr>
        <p:txBody>
          <a:bodyPr wrap="square" lIns="45720" tIns="45720" anchor="t"/>
          <a:lstStyle/>
          <a:p>
            <a:r>
              <a:rPr lang="en-US" sz="800" b="1">
                <a:solidFill>
                  <a:srgbClr val="3FB950"/>
                </a:solidFill>
                <a:latin typeface="Consolas"/>
              </a:rPr>
              <a:t>📊 SonarQube</a:t>
            </a:r>
          </a:p>
          <a:p>
            <a:r>
              <a:rPr lang="en-US" sz="750" b="0">
                <a:solidFill>
                  <a:srgbClr val="8B949E"/>
                </a:solidFill>
                <a:latin typeface="Consolas"/>
              </a:rPr>
              <a:t>Enterprise DC</a:t>
            </a:r>
          </a:p>
          <a:p>
            <a:r>
              <a:rPr lang="en-US" sz="750" b="0">
                <a:solidFill>
                  <a:srgbClr val="8B949E"/>
                </a:solidFill>
                <a:latin typeface="Consolas"/>
              </a:rPr>
              <a:t>Private subnet</a:t>
            </a:r>
          </a:p>
          <a:p>
            <a:r>
              <a:rPr lang="en-US" sz="750" b="0">
                <a:solidFill>
                  <a:srgbClr val="3FB950"/>
                </a:solidFill>
                <a:latin typeface="Consolas"/>
              </a:rPr>
              <a:t>Azure AD SAML</a:t>
            </a:r>
          </a:p>
        </p:txBody>
      </p:sp>
      <p:sp>
        <p:nvSpPr>
          <p:cNvPr id="14" name="KeyVault"/>
          <p:cNvSpPr/>
          <p:nvPr/>
        </p:nvSpPr>
        <p:spPr>
          <a:xfrm>
            <a:off x="7619400" y="716280"/>
            <a:ext cx="137160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238636"/>
            </a:solidFill>
          </a:ln>
        </p:spPr>
        <p:txBody>
          <a:bodyPr wrap="square" lIns="45720" tIns="45720" anchor="t"/>
          <a:lstStyle/>
          <a:p>
            <a:r>
              <a:rPr lang="en-US" sz="800" b="1">
                <a:solidFill>
                  <a:srgbClr val="3FB950"/>
                </a:solidFill>
                <a:latin typeface="Consolas"/>
              </a:rPr>
              <a:t>🔑 Key Vault</a:t>
            </a:r>
          </a:p>
          <a:p>
            <a:r>
              <a:rPr lang="en-US" sz="750" b="0">
                <a:solidFill>
                  <a:srgbClr val="8B949E"/>
                </a:solidFill>
                <a:latin typeface="Consolas"/>
              </a:rPr>
              <a:t>Service tokens</a:t>
            </a:r>
          </a:p>
          <a:p>
            <a:r>
              <a:rPr lang="en-US" sz="750" b="0">
                <a:solidFill>
                  <a:srgbClr val="8B949E"/>
                </a:solidFill>
                <a:latin typeface="Consolas"/>
              </a:rPr>
              <a:t>Rotated 24h</a:t>
            </a:r>
          </a:p>
          <a:p>
            <a:r>
              <a:rPr lang="en-US" sz="750" b="0">
                <a:solidFill>
                  <a:srgbClr val="3FB950"/>
                </a:solidFill>
                <a:latin typeface="Consolas"/>
              </a:rPr>
              <a:t>No dev access</a:t>
            </a:r>
          </a:p>
        </p:txBody>
      </p:sp>
      <p:sp>
        <p:nvSpPr>
          <p:cNvPr id="15" name="AzureOAI"/>
          <p:cNvSpPr/>
          <p:nvPr/>
        </p:nvSpPr>
        <p:spPr>
          <a:xfrm>
            <a:off x="6019800" y="1219200"/>
            <a:ext cx="2971800" cy="45720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txBody>
          <a:bodyPr wrap="square" lIns="45720" tIns="45720" anchor="t"/>
          <a:lstStyle/>
          <a:p>
            <a:r>
              <a:rPr lang="en-US" sz="850" b="1">
                <a:solidFill>
                  <a:srgbClr val="58A6FF"/>
                </a:solidFill>
                <a:latin typeface="Consolas"/>
              </a:rPr>
              <a:t>✨ Azure OpenAI — Private Endpoint</a:t>
            </a:r>
          </a:p>
          <a:p>
            <a:r>
              <a:rPr lang="en-US" sz="750" b="0">
                <a:solidFill>
                  <a:srgbClr val="8B949E"/>
                </a:solidFill>
                <a:latin typeface="Consolas"/>
              </a:rPr>
              <a:t>UAE North • codefix-model • GPT-4o</a:t>
            </a:r>
          </a:p>
          <a:p>
            <a:r>
              <a:rPr lang="en-US" sz="750" b="0">
                <a:solidFill>
                  <a:srgbClr val="3FB950"/>
                </a:solidFill>
                <a:latin typeface="Consolas"/>
              </a:rPr>
              <a:t>Zero retention • BAA signed • No public internet</a:t>
            </a:r>
          </a:p>
        </p:txBody>
      </p:sp>
      <p:sp>
        <p:nvSpPr>
          <p:cNvPr id="16" name="Sentinel"/>
          <p:cNvSpPr/>
          <p:nvPr/>
        </p:nvSpPr>
        <p:spPr>
          <a:xfrm>
            <a:off x="6019800" y="1733800"/>
            <a:ext cx="2971800" cy="304800"/>
          </a:xfrm>
          <a:prstGeom prst="rect">
            <a:avLst/>
          </a:prstGeom>
          <a:solidFill>
            <a:srgbClr val="161B22"/>
          </a:solidFill>
          <a:ln w="12700">
            <a:solidFill>
              <a:srgbClr val="F0E68C"/>
            </a:solidFill>
          </a:ln>
        </p:spPr>
        <p:txBody>
          <a:bodyPr wrap="square" lIns="45720" tIns="45720" anchor="ctr"/>
          <a:lstStyle/>
          <a:p>
            <a:r>
              <a:rPr lang="en-US" sz="800" b="1">
                <a:solidFill>
                  <a:srgbClr val="F0E68C"/>
                </a:solidFill>
                <a:latin typeface="Consolas"/>
              </a:rPr>
              <a:t>🔍 Azure Sentinel SIEM (UAE North)</a:t>
            </a:r>
          </a:p>
          <a:p>
            <a:r>
              <a:rPr lang="en-US" sz="750" b="0">
                <a:solidFill>
                  <a:srgbClr val="8B949E"/>
                </a:solidFill>
                <a:latin typeface="Consolas"/>
              </a:rPr>
              <a:t>All proxy logs • DLP alerts • Anomaly detection</a:t>
            </a:r>
          </a:p>
        </p:txBody>
      </p:sp>
      <p:sp>
        <p:nvSpPr>
          <p:cNvPr id="17" name="L1"/>
          <p:cNvSpPr/>
          <p:nvPr/>
        </p:nvSpPr>
        <p:spPr>
          <a:xfrm>
            <a:off x="1981200" y="838200"/>
            <a:ext cx="6096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650" b="0">
                <a:solidFill>
                  <a:srgbClr val="F78166"/>
                </a:solidFill>
                <a:latin typeface="Consolas"/>
              </a:rPr>
              <a:t>JWT+HTTPS</a:t>
            </a:r>
          </a:p>
        </p:txBody>
      </p:sp>
      <p:sp>
        <p:nvSpPr>
          <p:cNvPr id="18" name="L2"/>
          <p:cNvSpPr/>
          <p:nvPr/>
        </p:nvSpPr>
        <p:spPr>
          <a:xfrm>
            <a:off x="5410200" y="838200"/>
            <a:ext cx="6096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650" b="0">
                <a:solidFill>
                  <a:srgbClr val="3FB950"/>
                </a:solidFill>
                <a:latin typeface="Consolas"/>
              </a:rPr>
              <a:t>Verified</a:t>
            </a:r>
          </a:p>
        </p:txBody>
      </p:sp>
      <p:sp>
        <p:nvSpPr>
          <p:cNvPr id="19" name="ProxyWhat"/>
          <p:cNvSpPr/>
          <p:nvPr/>
        </p:nvSpPr>
        <p:spPr>
          <a:xfrm>
            <a:off x="457200" y="2133600"/>
            <a:ext cx="4724400" cy="1676400"/>
          </a:xfrm>
          <a:prstGeom prst="rect">
            <a:avLst/>
          </a:prstGeom>
          <a:solidFill>
            <a:srgbClr val="161B22"/>
          </a:solidFill>
          <a:ln w="12700">
            <a:solidFill>
              <a:srgbClr val="DA3633"/>
            </a:solidFill>
          </a:ln>
        </p:spPr>
        <p:txBody>
          <a:bodyPr wrap="square" lIns="91440" tIns="91440" rIns="91440" bIns="91440" anchor="t"/>
          <a:lstStyle/>
          <a:p>
            <a:r>
              <a:rPr lang="en-US" sz="1000" b="1">
                <a:solidFill>
                  <a:srgbClr val="F78166"/>
                </a:solidFill>
                <a:latin typeface="Calibri"/>
              </a:rPr>
              <a:t>What the AI Security Gateway Does — and Why It’s Essential</a:t>
            </a:r>
          </a:p>
          <a:p>
            <a:r>
              <a:rPr lang="en-US" sz="900" b="0">
                <a:solidFill>
                  <a:srgbClr val="8B949E"/>
                </a:solidFill>
                <a:latin typeface="Consolas"/>
              </a:rPr>
              <a:t/>
            </a:r>
          </a:p>
          <a:p>
            <a:r>
              <a:rPr lang="en-US" sz="950" b="0">
                <a:solidFill>
                  <a:srgbClr val="3FB950"/>
                </a:solidFill>
                <a:latin typeface="Calibri"/>
              </a:rPr>
              <a:t>✔ SonarQube token NEVER touches a developer machine</a:t>
            </a:r>
          </a:p>
          <a:p>
            <a:r>
              <a:rPr lang="en-US" sz="950" b="0">
                <a:solidFill>
                  <a:srgbClr val="3FB950"/>
                </a:solidFill>
                <a:latin typeface="Calibri"/>
              </a:rPr>
              <a:t>✔ DLP engine intercepts secrets in code snippets BEFORE they reach Azure OpenAI</a:t>
            </a:r>
          </a:p>
          <a:p>
            <a:r>
              <a:rPr lang="en-US" sz="950" b="0">
                <a:solidFill>
                  <a:srgbClr val="3FB950"/>
                </a:solidFill>
                <a:latin typeface="Calibri"/>
              </a:rPr>
              <a:t>✔ Every AI request logged: developer ID, project, DLP verdict, issue IDs</a:t>
            </a:r>
          </a:p>
          <a:p>
            <a:r>
              <a:rPr lang="en-US" sz="950" b="0">
                <a:solidFill>
                  <a:srgbClr val="3FB950"/>
                </a:solidFill>
                <a:latin typeface="Calibri"/>
              </a:rPr>
              <a:t>✔ RBAC prevents developers from accessing projects outside their scope</a:t>
            </a:r>
          </a:p>
          <a:p>
            <a:r>
              <a:rPr lang="en-US" sz="950" b="0">
                <a:solidFill>
                  <a:srgbClr val="3FB950"/>
                </a:solidFill>
                <a:latin typeface="Calibri"/>
              </a:rPr>
              <a:t>✔ Key rotation every 24h — breach window minimized</a:t>
            </a:r>
          </a:p>
          <a:p>
            <a:r>
              <a:rPr lang="en-US" sz="900" b="0">
                <a:solidFill>
                  <a:srgbClr val="8B949E"/>
                </a:solidFill>
                <a:latin typeface="Consolas"/>
              </a:rPr>
              <a:t/>
            </a:r>
          </a:p>
          <a:p>
            <a:r>
              <a:rPr lang="en-US" sz="850" b="0" i="1">
                <a:solidFill>
                  <a:srgbClr val="8B949E"/>
                </a:solidFill>
                <a:latin typeface="Calibri"/>
              </a:rPr>
              <a:t>Built on Azure Container Apps (UAE North). No Cursor, Windsurf, or cloud AI IDEs permitted.</a:t>
            </a:r>
          </a:p>
        </p:txBody>
      </p:sp>
      <p:sp>
        <p:nvSpPr>
          <p:cNvPr id="20" name="Phases"/>
          <p:cNvSpPr/>
          <p:nvPr/>
        </p:nvSpPr>
        <p:spPr>
          <a:xfrm>
            <a:off x="5334000" y="2133600"/>
            <a:ext cx="3657600" cy="1676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38636"/>
            </a:solidFill>
          </a:ln>
        </p:spPr>
        <p:txBody>
          <a:bodyPr wrap="square" lIns="91440" tIns="91440" rIns="91440" bIns="91440" anchor="t"/>
          <a:lstStyle/>
          <a:p>
            <a:r>
              <a:rPr lang="en-US" sz="1000" b="1">
                <a:solidFill>
                  <a:srgbClr val="3FB950"/>
                </a:solidFill>
                <a:latin typeface="Calibri"/>
              </a:rPr>
              <a:t>Implementation Roadmap (18 weeks)</a:t>
            </a:r>
          </a:p>
          <a:p>
            <a:r>
              <a:rPr lang="en-US" sz="900" b="0">
                <a:solidFill>
                  <a:srgbClr val="8B949E"/>
                </a:solidFill>
                <a:latin typeface="Consolas"/>
              </a:rPr>
              <a:t/>
            </a:r>
          </a:p>
          <a:p>
            <a:r>
              <a:rPr lang="en-US" sz="950" b="1">
                <a:solidFill>
                  <a:srgbClr val="58A6FF"/>
                </a:solidFill>
                <a:latin typeface="Calibri"/>
              </a:rPr>
              <a:t>P1 Wk 1–4:</a:t>
            </a:r>
            <a:r>
              <a:rPr lang="en-US" sz="950" b="0">
                <a:solidFill>
                  <a:srgbClr val="C9D1D9"/>
                </a:solidFill>
                <a:latin typeface="Calibri"/>
              </a:rPr>
              <a:t xml:space="preserve"> Foundation — Azure AD, VS Code managed, SonarQube Enterprise DC (private subnet UAE North)</a:t>
            </a:r>
          </a:p>
          <a:p>
            <a:r>
              <a:rPr lang="en-US" sz="950" b="1">
                <a:solidFill>
                  <a:srgbClr val="58A6FF"/>
                </a:solidFill>
                <a:latin typeface="Calibri"/>
              </a:rPr>
              <a:t>P2 Wk 5–10:</a:t>
            </a:r>
            <a:r>
              <a:rPr lang="en-US" sz="950" b="0">
                <a:solidFill>
                  <a:srgbClr val="C9D1D9"/>
                </a:solidFill>
                <a:latin typeface="Calibri"/>
              </a:rPr>
              <a:t xml:space="preserve"> AI Security Gateway — JWT, RBAC, DLP, Key Vault token rotation, Sentinel logging</a:t>
            </a:r>
          </a:p>
          <a:p>
            <a:r>
              <a:rPr lang="en-US" sz="950" b="1">
                <a:solidFill>
                  <a:srgbClr val="58A6FF"/>
                </a:solidFill>
                <a:latin typeface="Calibri"/>
              </a:rPr>
              <a:t>P3 Wk 11–14:</a:t>
            </a:r>
            <a:r>
              <a:rPr lang="en-US" sz="950" b="0">
                <a:solidFill>
                  <a:srgbClr val="C9D1D9"/>
                </a:solidFill>
                <a:latin typeface="Calibri"/>
              </a:rPr>
              <a:t xml:space="preserve"> Azure OpenAI private endpoint, managed identity, Microsoft BAA, red team exercise</a:t>
            </a:r>
          </a:p>
          <a:p>
            <a:r>
              <a:rPr lang="en-US" sz="950" b="1">
                <a:solidFill>
                  <a:srgbClr val="58A6FF"/>
                </a:solidFill>
                <a:latin typeface="Calibri"/>
              </a:rPr>
              <a:t>P4 Wk 15–18:</a:t>
            </a:r>
            <a:r>
              <a:rPr lang="en-US" sz="950" b="0">
                <a:solidFill>
                  <a:srgbClr val="C9D1D9"/>
                </a:solidFill>
                <a:latin typeface="Calibri"/>
              </a:rPr>
              <a:t xml:space="preserve"> IDE rollout — internal VS Code extension, MDM push, security training</a:t>
            </a:r>
          </a:p>
        </p:txBody>
      </p:sp>
      <p:sp>
        <p:nvSpPr>
          <p:cNvPr id="21" name="NonNeg"/>
          <p:cNvSpPr/>
          <p:nvPr/>
        </p:nvSpPr>
        <p:spPr>
          <a:xfrm>
            <a:off x="457200" y="3886200"/>
            <a:ext cx="8229600" cy="533400"/>
          </a:xfrm>
          <a:prstGeom prst="rect">
            <a:avLst/>
          </a:prstGeom>
          <a:solidFill>
            <a:srgbClr val="3D1C02"/>
          </a:solidFill>
          <a:ln w="12700">
            <a:solidFill>
              <a:srgbClr val="F78166"/>
            </a:solidFill>
          </a:ln>
        </p:spPr>
        <p:txBody>
          <a:bodyPr wrap="square" lIns="91440" tIns="45720" rIns="91440" bIns="45720" anchor="ctr"/>
          <a:lstStyle/>
          <a:p>
            <a:r>
              <a:rPr lang="en-US" sz="950" b="1">
                <a:solidFill>
                  <a:srgbClr val="F78166"/>
                </a:solidFill>
                <a:latin typeface="Calibri"/>
              </a:rPr>
              <a:t xml:space="preserve">Non-Negotiable Requirements: </a:t>
            </a:r>
            <a:r>
              <a:rPr lang="en-US" sz="900" b="0">
                <a:solidFill>
                  <a:srgbClr val="C9D1D9"/>
                </a:solidFill>
                <a:latin typeface="Calibri"/>
              </a:rPr>
              <a:t>No code sent to Sonar-hosted AI without CISO sign-off • All AI changes require human review before merge • Every AI request individually logged • Azure OpenAI: zero retention + Microsoft BAA before activation • Developer machines NEVER hold SonarQube service tokens</a:t>
            </a:r>
          </a:p>
        </p:txBody>
      </p:sp>
      <p:sp>
        <p:nvSpPr>
          <p:cNvPr id="22" name="StatusBar"/>
          <p:cNvSpPr/>
          <p:nvPr/>
        </p:nvSpPr>
        <p:spPr>
          <a:xfrm>
            <a:off x="0" y="4877040"/>
            <a:ext cx="9144000" cy="266460"/>
          </a:xfrm>
          <a:prstGeom prst="rect">
            <a:avLst/>
          </a:prstGeom>
          <a:solidFill>
            <a:srgbClr val="007ACC"/>
          </a:solidFill>
          <a:ln>
            <a:solidFill>
              <a:srgbClr val="007ACC"/>
            </a:solidFill>
          </a:ln>
        </p:spPr>
        <p:txBody>
          <a:bodyPr wrap="square" lIns="91440" anchor="ctr"/>
          <a:lstStyle/>
          <a:p>
            <a:r>
              <a:rPr lang="en-US" sz="800" b="0">
                <a:solidFill>
                  <a:srgbClr val="FFFFFF"/>
                </a:solidFill>
                <a:latin typeface="Consolas"/>
              </a:rPr>
              <a:t>Architecture: Zero-Trust AI Security Gateway • SonarQube Enterprise DC • Azure OpenAI Private Endpoint • Azure Sentinel SIEM • All components: UAE North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1327</Words>
  <Application>Microsoft Office PowerPoint</Application>
  <PresentationFormat>On-screen Show (16:9)</PresentationFormat>
  <Paragraphs>270</Paragraphs>
  <Slides>12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Safaa Abdel Hamid Soliman</cp:lastModifiedBy>
  <cp:revision>65</cp:revision>
  <dcterms:created xsi:type="dcterms:W3CDTF">2026-04-22T18:19:03Z</dcterms:created>
  <dcterms:modified xsi:type="dcterms:W3CDTF">2026-05-12T13:01:23Z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d427607-ff6b-482e-86cf-85fc569e58cd_Enabled">
    <vt:lpwstr>true</vt:lpwstr>
  </property>
  <property fmtid="{D5CDD505-2E9C-101B-9397-08002B2CF9AE}" pid="3" name="MSIP_Label_bd427607-ff6b-482e-86cf-85fc569e58cd_SetDate">
    <vt:lpwstr>2026-04-23T04:19:09Z</vt:lpwstr>
  </property>
  <property fmtid="{D5CDD505-2E9C-101B-9397-08002B2CF9AE}" pid="4" name="MSIP_Label_bd427607-ff6b-482e-86cf-85fc569e58cd_Method">
    <vt:lpwstr>Standard</vt:lpwstr>
  </property>
  <property fmtid="{D5CDD505-2E9C-101B-9397-08002B2CF9AE}" pid="5" name="MSIP_Label_bd427607-ff6b-482e-86cf-85fc569e58cd_Name">
    <vt:lpwstr>Dubai Health-Confidential</vt:lpwstr>
  </property>
  <property fmtid="{D5CDD505-2E9C-101B-9397-08002B2CF9AE}" pid="6" name="MSIP_Label_bd427607-ff6b-482e-86cf-85fc569e58cd_SiteId">
    <vt:lpwstr>2498e482-d486-4e8f-a0d8-bd97124de46e</vt:lpwstr>
  </property>
  <property fmtid="{D5CDD505-2E9C-101B-9397-08002B2CF9AE}" pid="7" name="MSIP_Label_bd427607-ff6b-482e-86cf-85fc569e58cd_ActionId">
    <vt:lpwstr>20649091-25a1-451c-aba2-5eb2962b27ac</vt:lpwstr>
  </property>
  <property fmtid="{D5CDD505-2E9C-101B-9397-08002B2CF9AE}" pid="8" name="MSIP_Label_bd427607-ff6b-482e-86cf-85fc569e58cd_ContentBits">
    <vt:lpwstr>2</vt:lpwstr>
  </property>
  <property fmtid="{D5CDD505-2E9C-101B-9397-08002B2CF9AE}" pid="9" name="MSIP_Label_bd427607-ff6b-482e-86cf-85fc569e58cd_Tag">
    <vt:lpwstr>10, 3, 0, 1</vt:lpwstr>
  </property>
  <property fmtid="{D5CDD505-2E9C-101B-9397-08002B2CF9AE}" pid="10" name="ClassificationContentMarkingFooterLocations">
    <vt:lpwstr>Office Theme:3</vt:lpwstr>
  </property>
  <property fmtid="{D5CDD505-2E9C-101B-9397-08002B2CF9AE}" pid="11" name="ClassificationContentMarkingFooterText">
    <vt:lpwstr>Dubai Health  - Internal Use </vt:lpwstr>
  </property>
</Properties>
</file>